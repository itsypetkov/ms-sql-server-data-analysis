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73" r:id="rId10"/>
    <p:sldId id="264" r:id="rId11"/>
    <p:sldId id="274" r:id="rId12"/>
    <p:sldId id="265" r:id="rId13"/>
    <p:sldId id="275" r:id="rId14"/>
    <p:sldId id="266" r:id="rId15"/>
    <p:sldId id="276" r:id="rId16"/>
    <p:sldId id="267" r:id="rId17"/>
    <p:sldId id="277" r:id="rId18"/>
    <p:sldId id="268" r:id="rId19"/>
    <p:sldId id="278" r:id="rId20"/>
    <p:sldId id="269" r:id="rId21"/>
    <p:sldId id="279" r:id="rId22"/>
    <p:sldId id="270" r:id="rId23"/>
    <p:sldId id="280" r:id="rId24"/>
    <p:sldId id="271" r:id="rId25"/>
    <p:sldId id="281" r:id="rId26"/>
    <p:sldId id="272" r:id="rId27"/>
    <p:sldId id="282" r:id="rId28"/>
    <p:sldId id="283"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95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D86F6E05-591C-4BCF-BCB2-A79AA614DE31}" type="datetimeFigureOut">
              <a:rPr lang="en-GB" smtClean="0"/>
              <a:t>10/02/2026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1C96964-0989-471A-BAD4-C5D25B6EE174}" type="slidenum">
              <a:rPr lang="en-GB" smtClean="0"/>
              <a:t>‹#›</a:t>
            </a:fld>
            <a:endParaRPr lang="en-GB"/>
          </a:p>
        </p:txBody>
      </p:sp>
      <p:cxnSp>
        <p:nvCxnSpPr>
          <p:cNvPr id="13" name="Straight Connector 12"/>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0" y="-1"/>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388592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6F6E05-591C-4BCF-BCB2-A79AA614DE31}" type="datetimeFigureOut">
              <a:rPr lang="en-GB" smtClean="0"/>
              <a:t>10/02/2026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1C96964-0989-471A-BAD4-C5D25B6EE174}" type="slidenum">
              <a:rPr lang="en-GB" smtClean="0"/>
              <a:t>‹#›</a:t>
            </a:fld>
            <a:endParaRPr lang="en-GB"/>
          </a:p>
        </p:txBody>
      </p:sp>
    </p:spTree>
    <p:extLst>
      <p:ext uri="{BB962C8B-B14F-4D97-AF65-F5344CB8AC3E}">
        <p14:creationId xmlns:p14="http://schemas.microsoft.com/office/powerpoint/2010/main" val="11516220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86F6E05-591C-4BCF-BCB2-A79AA614DE31}" type="datetimeFigureOut">
              <a:rPr lang="en-GB" smtClean="0"/>
              <a:t>10/02/2026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1C96964-0989-471A-BAD4-C5D25B6EE174}" type="slidenum">
              <a:rPr lang="en-GB" smtClean="0"/>
              <a:t>‹#›</a:t>
            </a:fld>
            <a:endParaRPr lang="en-GB"/>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0" y="-1"/>
            <a:ext cx="12192000" cy="45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7580583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86F6E05-591C-4BCF-BCB2-A79AA614DE31}" type="datetimeFigureOut">
              <a:rPr lang="en-GB" smtClean="0"/>
              <a:t>10/02/2026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1C96964-0989-471A-BAD4-C5D25B6EE174}" type="slidenum">
              <a:rPr lang="en-GB" smtClean="0"/>
              <a:t>‹#›</a:t>
            </a:fld>
            <a:endParaRPr lang="en-GB"/>
          </a:p>
        </p:txBody>
      </p:sp>
    </p:spTree>
    <p:extLst>
      <p:ext uri="{BB962C8B-B14F-4D97-AF65-F5344CB8AC3E}">
        <p14:creationId xmlns:p14="http://schemas.microsoft.com/office/powerpoint/2010/main" val="25355715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2">
                    <a:lumMod val="75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2">
                    <a:lumMod val="75000"/>
                  </a:schemeClr>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6F6E05-591C-4BCF-BCB2-A79AA614DE31}" type="datetimeFigureOut">
              <a:rPr lang="en-GB" smtClean="0"/>
              <a:t>10/02/2026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51C96964-0989-471A-BAD4-C5D25B6EE174}" type="slidenum">
              <a:rPr lang="en-GB" smtClean="0"/>
              <a:t>‹#›</a:t>
            </a:fld>
            <a:endParaRPr lang="en-GB"/>
          </a:p>
        </p:txBody>
      </p:sp>
    </p:spTree>
    <p:extLst>
      <p:ext uri="{BB962C8B-B14F-4D97-AF65-F5344CB8AC3E}">
        <p14:creationId xmlns:p14="http://schemas.microsoft.com/office/powerpoint/2010/main" val="3538359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86F6E05-591C-4BCF-BCB2-A79AA614DE31}" type="datetimeFigureOut">
              <a:rPr lang="en-GB" smtClean="0"/>
              <a:t>10/02/2026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1C96964-0989-471A-BAD4-C5D25B6EE174}" type="slidenum">
              <a:rPr lang="en-GB" smtClean="0"/>
              <a:t>‹#›</a:t>
            </a:fld>
            <a:endParaRPr lang="en-GB"/>
          </a:p>
        </p:txBody>
      </p:sp>
    </p:spTree>
    <p:extLst>
      <p:ext uri="{BB962C8B-B14F-4D97-AF65-F5344CB8AC3E}">
        <p14:creationId xmlns:p14="http://schemas.microsoft.com/office/powerpoint/2010/main" val="36502096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6F6E05-591C-4BCF-BCB2-A79AA614DE31}" type="datetimeFigureOut">
              <a:rPr lang="en-GB" smtClean="0"/>
              <a:t>10/02/2026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51C96964-0989-471A-BAD4-C5D25B6EE174}" type="slidenum">
              <a:rPr lang="en-GB" smtClean="0"/>
              <a:t>‹#›</a:t>
            </a:fld>
            <a:endParaRPr lang="en-GB"/>
          </a:p>
        </p:txBody>
      </p:sp>
    </p:spTree>
    <p:extLst>
      <p:ext uri="{BB962C8B-B14F-4D97-AF65-F5344CB8AC3E}">
        <p14:creationId xmlns:p14="http://schemas.microsoft.com/office/powerpoint/2010/main" val="15670816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86F6E05-591C-4BCF-BCB2-A79AA614DE31}" type="datetimeFigureOut">
              <a:rPr lang="en-GB" smtClean="0"/>
              <a:t>10/02/2026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1C96964-0989-471A-BAD4-C5D25B6EE174}" type="slidenum">
              <a:rPr lang="en-GB" smtClean="0"/>
              <a:t>‹#›</a:t>
            </a:fld>
            <a:endParaRPr lang="en-GB"/>
          </a:p>
        </p:txBody>
      </p:sp>
    </p:spTree>
    <p:extLst>
      <p:ext uri="{BB962C8B-B14F-4D97-AF65-F5344CB8AC3E}">
        <p14:creationId xmlns:p14="http://schemas.microsoft.com/office/powerpoint/2010/main" val="32715584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2">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86F6E05-591C-4BCF-BCB2-A79AA614DE31}" type="datetimeFigureOut">
              <a:rPr lang="en-GB" smtClean="0"/>
              <a:t>10/02/2026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1C96964-0989-471A-BAD4-C5D25B6EE174}" type="slidenum">
              <a:rPr lang="en-GB" smtClean="0"/>
              <a:t>‹#›</a:t>
            </a:fld>
            <a:endParaRPr lang="en-GB"/>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3485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6F6E05-591C-4BCF-BCB2-A79AA614DE31}" type="datetimeFigureOut">
              <a:rPr lang="en-GB" smtClean="0"/>
              <a:t>10/02/2026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1C96964-0989-471A-BAD4-C5D25B6EE174}" type="slidenum">
              <a:rPr lang="en-GB" smtClean="0"/>
              <a:t>‹#›</a:t>
            </a:fld>
            <a:endParaRPr lang="en-GB"/>
          </a:p>
        </p:txBody>
      </p:sp>
    </p:spTree>
    <p:extLst>
      <p:ext uri="{BB962C8B-B14F-4D97-AF65-F5344CB8AC3E}">
        <p14:creationId xmlns:p14="http://schemas.microsoft.com/office/powerpoint/2010/main" val="1573975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6F6E05-591C-4BCF-BCB2-A79AA614DE31}" type="datetimeFigureOut">
              <a:rPr lang="en-GB" smtClean="0"/>
              <a:t>10/02/2026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1C96964-0989-471A-BAD4-C5D25B6EE174}" type="slidenum">
              <a:rPr lang="en-GB" smtClean="0"/>
              <a:t>‹#›</a:t>
            </a:fld>
            <a:endParaRPr lang="en-GB"/>
          </a:p>
        </p:txBody>
      </p:sp>
      <p:cxnSp>
        <p:nvCxnSpPr>
          <p:cNvPr id="8" name="Straight Connector 7"/>
          <p:cNvCxnSpPr/>
          <p:nvPr/>
        </p:nvCxnSpPr>
        <p:spPr>
          <a:xfrm rot="5400000" flipV="1">
            <a:off x="10058400" y="59263"/>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7993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D86F6E05-591C-4BCF-BCB2-A79AA614DE31}" type="datetimeFigureOut">
              <a:rPr lang="en-GB" smtClean="0"/>
              <a:t>10/02/2026</a:t>
            </a:fld>
            <a:endParaRPr lang="en-GB"/>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GB"/>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51C96964-0989-471A-BAD4-C5D25B6EE174}" type="slidenum">
              <a:rPr lang="en-GB" smtClean="0"/>
              <a:t>‹#›</a:t>
            </a:fld>
            <a:endParaRPr lang="en-GB"/>
          </a:p>
        </p:txBody>
      </p:sp>
      <p:cxnSp>
        <p:nvCxnSpPr>
          <p:cNvPr id="8" name="Straight Connector 7"/>
          <p:cNvCxnSpPr/>
          <p:nvPr/>
        </p:nvCxnSpPr>
        <p:spPr>
          <a:xfrm flipV="1">
            <a:off x="7620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5065766"/>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4C151-6273-C4BF-325C-AE3A66B100A7}"/>
              </a:ext>
            </a:extLst>
          </p:cNvPr>
          <p:cNvSpPr>
            <a:spLocks noGrp="1"/>
          </p:cNvSpPr>
          <p:nvPr>
            <p:ph type="ctrTitle"/>
          </p:nvPr>
        </p:nvSpPr>
        <p:spPr/>
        <p:txBody>
          <a:bodyPr/>
          <a:lstStyle/>
          <a:p>
            <a:r>
              <a:rPr lang="en-GB" noProof="0" dirty="0"/>
              <a:t>Stakeholder Data Storytelling Report</a:t>
            </a:r>
          </a:p>
        </p:txBody>
      </p:sp>
      <p:sp>
        <p:nvSpPr>
          <p:cNvPr id="3" name="Subtitle 2">
            <a:extLst>
              <a:ext uri="{FF2B5EF4-FFF2-40B4-BE49-F238E27FC236}">
                <a16:creationId xmlns:a16="http://schemas.microsoft.com/office/drawing/2014/main" id="{534B06D9-04B7-3AC8-FAC3-878EA8FB3320}"/>
              </a:ext>
            </a:extLst>
          </p:cNvPr>
          <p:cNvSpPr>
            <a:spLocks noGrp="1"/>
          </p:cNvSpPr>
          <p:nvPr>
            <p:ph type="subTitle" idx="1"/>
          </p:nvPr>
        </p:nvSpPr>
        <p:spPr/>
        <p:txBody>
          <a:bodyPr>
            <a:normAutofit fontScale="85000" lnSpcReduction="20000"/>
          </a:bodyPr>
          <a:lstStyle/>
          <a:p>
            <a:pPr algn="just"/>
            <a:r>
              <a:rPr lang="en-GB" noProof="0" dirty="0"/>
              <a:t>Tool used: MS Excel</a:t>
            </a:r>
          </a:p>
          <a:p>
            <a:pPr algn="just"/>
            <a:r>
              <a:rPr lang="en-GB" u="sng" noProof="0" dirty="0"/>
              <a:t>Author: Hristo Petkov   </a:t>
            </a:r>
          </a:p>
          <a:p>
            <a:pPr algn="just"/>
            <a:r>
              <a:rPr lang="en-GB" noProof="0" dirty="0"/>
              <a:t>Data Analyst * Data Visualisation Specialist * Researcher * Software Developer ** I analyse and visualise data, conduct research and invent new things</a:t>
            </a:r>
          </a:p>
        </p:txBody>
      </p:sp>
    </p:spTree>
    <p:extLst>
      <p:ext uri="{BB962C8B-B14F-4D97-AF65-F5344CB8AC3E}">
        <p14:creationId xmlns:p14="http://schemas.microsoft.com/office/powerpoint/2010/main" val="10772092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F9796-6E7B-840D-F2DE-F5F05BE472C5}"/>
              </a:ext>
            </a:extLst>
          </p:cNvPr>
          <p:cNvSpPr>
            <a:spLocks noGrp="1"/>
          </p:cNvSpPr>
          <p:nvPr>
            <p:ph type="title"/>
          </p:nvPr>
        </p:nvSpPr>
        <p:spPr/>
        <p:txBody>
          <a:bodyPr/>
          <a:lstStyle/>
          <a:p>
            <a:r>
              <a:rPr lang="en-GB" noProof="0" dirty="0"/>
              <a:t>Contents (1)</a:t>
            </a:r>
          </a:p>
        </p:txBody>
      </p:sp>
      <p:sp>
        <p:nvSpPr>
          <p:cNvPr id="3" name="Content Placeholder 2">
            <a:extLst>
              <a:ext uri="{FF2B5EF4-FFF2-40B4-BE49-F238E27FC236}">
                <a16:creationId xmlns:a16="http://schemas.microsoft.com/office/drawing/2014/main" id="{12B0D583-92B0-A3AC-3878-FDF329363B61}"/>
              </a:ext>
            </a:extLst>
          </p:cNvPr>
          <p:cNvSpPr>
            <a:spLocks noGrp="1"/>
          </p:cNvSpPr>
          <p:nvPr>
            <p:ph idx="1"/>
          </p:nvPr>
        </p:nvSpPr>
        <p:spPr/>
        <p:txBody>
          <a:bodyPr>
            <a:normAutofit lnSpcReduction="10000"/>
          </a:bodyPr>
          <a:lstStyle/>
          <a:p>
            <a:pPr>
              <a:buFont typeface="Wingdings" panose="05000000000000000000" pitchFamily="2" charset="2"/>
              <a:buChar char="Ø"/>
            </a:pPr>
            <a:r>
              <a:rPr lang="en-GB" noProof="0" dirty="0"/>
              <a:t> Introduction</a:t>
            </a:r>
          </a:p>
          <a:p>
            <a:pPr>
              <a:buFont typeface="Wingdings" panose="05000000000000000000" pitchFamily="2" charset="2"/>
              <a:buChar char="Ø"/>
            </a:pPr>
            <a:r>
              <a:rPr lang="en-GB" noProof="0" dirty="0"/>
              <a:t> Analytical Focus &amp; Key Business Questions</a:t>
            </a:r>
          </a:p>
          <a:p>
            <a:pPr>
              <a:buFont typeface="Wingdings" panose="05000000000000000000" pitchFamily="2" charset="2"/>
              <a:buChar char="Ø"/>
            </a:pPr>
            <a:r>
              <a:rPr lang="en-GB" dirty="0"/>
              <a:t> Product &amp; Category Performance</a:t>
            </a:r>
          </a:p>
          <a:p>
            <a:pPr lvl="1">
              <a:buFont typeface="Wingdings" panose="05000000000000000000" pitchFamily="2" charset="2"/>
              <a:buChar char="Ø"/>
            </a:pPr>
            <a:r>
              <a:rPr lang="en-GB" dirty="0"/>
              <a:t> Significance</a:t>
            </a:r>
          </a:p>
          <a:p>
            <a:pPr lvl="1">
              <a:buFont typeface="Wingdings" panose="05000000000000000000" pitchFamily="2" charset="2"/>
              <a:buChar char="Ø"/>
            </a:pPr>
            <a:r>
              <a:rPr lang="en-GB" dirty="0"/>
              <a:t> Output Analysis Interpretation</a:t>
            </a:r>
          </a:p>
          <a:p>
            <a:pPr>
              <a:buFont typeface="Wingdings" panose="05000000000000000000" pitchFamily="2" charset="2"/>
              <a:buChar char="Ø"/>
            </a:pPr>
            <a:r>
              <a:rPr lang="en-GB" dirty="0"/>
              <a:t> Sales Trends &amp; Growth</a:t>
            </a:r>
          </a:p>
          <a:p>
            <a:pPr lvl="1">
              <a:buFont typeface="Wingdings" panose="05000000000000000000" pitchFamily="2" charset="2"/>
              <a:buChar char="Ø"/>
            </a:pPr>
            <a:r>
              <a:rPr lang="en-GB" noProof="0" dirty="0"/>
              <a:t> Relevance</a:t>
            </a:r>
          </a:p>
          <a:p>
            <a:pPr lvl="1">
              <a:buFont typeface="Wingdings" panose="05000000000000000000" pitchFamily="2" charset="2"/>
              <a:buChar char="Ø"/>
            </a:pPr>
            <a:r>
              <a:rPr lang="en-GB" noProof="0" dirty="0"/>
              <a:t> </a:t>
            </a:r>
            <a:r>
              <a:rPr lang="en-GB" dirty="0"/>
              <a:t>Output Analysis Interpretation</a:t>
            </a:r>
          </a:p>
          <a:p>
            <a:pPr marL="91440" marR="0" lvl="0" indent="-91440" algn="l" defTabSz="914400" rtl="0" eaLnBrk="1" fontAlgn="auto" latinLnBrk="0" hangingPunct="1">
              <a:lnSpc>
                <a:spcPct val="90000"/>
              </a:lnSpc>
              <a:spcBef>
                <a:spcPts val="1200"/>
              </a:spcBef>
              <a:spcAft>
                <a:spcPts val="200"/>
              </a:spcAft>
              <a:buClr>
                <a:srgbClr val="9CBEBD"/>
              </a:buClr>
              <a:buSzPct val="100000"/>
              <a:buFont typeface="Wingdings" panose="05000000000000000000" pitchFamily="2" charset="2"/>
              <a:buChar char="Ø"/>
              <a:tabLst/>
              <a:defRPr/>
            </a:pPr>
            <a:r>
              <a:rPr kumimoji="0" lang="en-GB" sz="2200" b="0" i="0" u="none" strike="noStrike" kern="1200" cap="none" spc="0" normalizeH="0" baseline="0" noProof="0" dirty="0">
                <a:ln>
                  <a:noFill/>
                </a:ln>
                <a:solidFill>
                  <a:srgbClr val="FFFFFF"/>
                </a:solidFill>
                <a:effectLst/>
                <a:uLnTx/>
                <a:uFillTx/>
                <a:latin typeface="Tw Cen MT" panose="020B0602020104020603"/>
                <a:ea typeface="+mn-ea"/>
                <a:cs typeface="+mn-cs"/>
              </a:rPr>
              <a:t>Retail &amp; Regional Performance</a:t>
            </a:r>
          </a:p>
          <a:p>
            <a:pPr lvl="1">
              <a:buFont typeface="Wingdings" panose="05000000000000000000" pitchFamily="2" charset="2"/>
              <a:buChar char="Ø"/>
            </a:pPr>
            <a:r>
              <a:rPr lang="en-GB" noProof="0" dirty="0"/>
              <a:t> Importance</a:t>
            </a:r>
          </a:p>
          <a:p>
            <a:pPr lvl="1">
              <a:buFont typeface="Wingdings" panose="05000000000000000000" pitchFamily="2" charset="2"/>
              <a:buChar char="Ø"/>
            </a:pPr>
            <a:r>
              <a:rPr lang="en-GB" dirty="0"/>
              <a:t> Output Analysis Interpretation</a:t>
            </a:r>
            <a:endParaRPr lang="en-GB" noProof="0" dirty="0"/>
          </a:p>
          <a:p>
            <a:pPr marL="0" indent="0">
              <a:buNone/>
            </a:pPr>
            <a:endParaRPr lang="en-GB" noProof="0" dirty="0"/>
          </a:p>
        </p:txBody>
      </p:sp>
    </p:spTree>
    <p:extLst>
      <p:ext uri="{BB962C8B-B14F-4D97-AF65-F5344CB8AC3E}">
        <p14:creationId xmlns:p14="http://schemas.microsoft.com/office/powerpoint/2010/main" val="33019525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211B0-ED4A-5A72-41BD-29F701673595}"/>
              </a:ext>
            </a:extLst>
          </p:cNvPr>
          <p:cNvSpPr>
            <a:spLocks noGrp="1"/>
          </p:cNvSpPr>
          <p:nvPr>
            <p:ph type="title"/>
          </p:nvPr>
        </p:nvSpPr>
        <p:spPr/>
        <p:txBody>
          <a:bodyPr/>
          <a:lstStyle/>
          <a:p>
            <a:r>
              <a:rPr lang="en-GB" noProof="0" dirty="0"/>
              <a:t>CONTENTS (2)</a:t>
            </a:r>
          </a:p>
        </p:txBody>
      </p:sp>
      <p:sp>
        <p:nvSpPr>
          <p:cNvPr id="3" name="Content Placeholder 2">
            <a:extLst>
              <a:ext uri="{FF2B5EF4-FFF2-40B4-BE49-F238E27FC236}">
                <a16:creationId xmlns:a16="http://schemas.microsoft.com/office/drawing/2014/main" id="{1961155B-DA85-5055-A7E1-61655105DE34}"/>
              </a:ext>
            </a:extLst>
          </p:cNvPr>
          <p:cNvSpPr>
            <a:spLocks noGrp="1"/>
          </p:cNvSpPr>
          <p:nvPr>
            <p:ph idx="1"/>
          </p:nvPr>
        </p:nvSpPr>
        <p:spPr/>
        <p:txBody>
          <a:bodyPr>
            <a:normAutofit fontScale="92500" lnSpcReduction="10000"/>
          </a:bodyPr>
          <a:lstStyle/>
          <a:p>
            <a:pPr>
              <a:buFont typeface="Wingdings" panose="05000000000000000000" pitchFamily="2" charset="2"/>
              <a:buChar char="Ø"/>
            </a:pPr>
            <a:r>
              <a:rPr lang="en-US" noProof="0" dirty="0"/>
              <a:t> </a:t>
            </a:r>
            <a:r>
              <a:rPr lang="en-GB" dirty="0"/>
              <a:t>Customer Value &amp; Loyalty</a:t>
            </a:r>
          </a:p>
          <a:p>
            <a:pPr lvl="1">
              <a:buFont typeface="Wingdings" panose="05000000000000000000" pitchFamily="2" charset="2"/>
              <a:buChar char="Ø"/>
            </a:pPr>
            <a:r>
              <a:rPr lang="en-GB" noProof="0" dirty="0"/>
              <a:t> Significance</a:t>
            </a:r>
          </a:p>
          <a:p>
            <a:pPr lvl="1">
              <a:buFont typeface="Wingdings" panose="05000000000000000000" pitchFamily="2" charset="2"/>
              <a:buChar char="Ø"/>
            </a:pPr>
            <a:r>
              <a:rPr lang="en-GB" dirty="0"/>
              <a:t> Output Analysis Interpretation</a:t>
            </a:r>
          </a:p>
          <a:p>
            <a:pPr marL="91440" marR="0" lvl="0" indent="-91440" algn="l" defTabSz="914400" rtl="0" eaLnBrk="1" fontAlgn="auto" latinLnBrk="0" hangingPunct="1">
              <a:lnSpc>
                <a:spcPct val="90000"/>
              </a:lnSpc>
              <a:spcBef>
                <a:spcPts val="1200"/>
              </a:spcBef>
              <a:spcAft>
                <a:spcPts val="200"/>
              </a:spcAft>
              <a:buClr>
                <a:srgbClr val="9CBEBD"/>
              </a:buClr>
              <a:buSzPct val="100000"/>
              <a:buFont typeface="Wingdings" panose="05000000000000000000" pitchFamily="2" charset="2"/>
              <a:buChar char="Ø"/>
              <a:tabLst/>
              <a:defRPr/>
            </a:pPr>
            <a:r>
              <a:rPr kumimoji="0" lang="en-GB" sz="2200" b="0" i="0" u="none" strike="noStrike" kern="1200" cap="none" spc="0" normalizeH="0" baseline="0" noProof="0" dirty="0">
                <a:ln>
                  <a:noFill/>
                </a:ln>
                <a:solidFill>
                  <a:srgbClr val="FFFFFF"/>
                </a:solidFill>
                <a:effectLst/>
                <a:uLnTx/>
                <a:uFillTx/>
                <a:latin typeface="Tw Cen MT" panose="020B0602020104020603"/>
                <a:ea typeface="+mn-ea"/>
                <a:cs typeface="+mn-cs"/>
              </a:rPr>
              <a:t> Staff Productivity &amp; Store Operations</a:t>
            </a:r>
          </a:p>
          <a:p>
            <a:pPr lvl="1">
              <a:buFont typeface="Wingdings" panose="05000000000000000000" pitchFamily="2" charset="2"/>
              <a:buChar char="Ø"/>
            </a:pPr>
            <a:r>
              <a:rPr lang="en-GB" noProof="0" dirty="0"/>
              <a:t> Relevance </a:t>
            </a:r>
          </a:p>
          <a:p>
            <a:pPr lvl="1">
              <a:buFont typeface="Wingdings" panose="05000000000000000000" pitchFamily="2" charset="2"/>
              <a:buChar char="Ø"/>
            </a:pPr>
            <a:r>
              <a:rPr lang="en-GB" dirty="0"/>
              <a:t> Output Analysis Interpretation</a:t>
            </a:r>
          </a:p>
          <a:p>
            <a:pPr marL="91440" marR="0" lvl="0" indent="-91440" algn="l" defTabSz="914400" rtl="0" eaLnBrk="1" fontAlgn="auto" latinLnBrk="0" hangingPunct="1">
              <a:lnSpc>
                <a:spcPct val="90000"/>
              </a:lnSpc>
              <a:spcBef>
                <a:spcPts val="1200"/>
              </a:spcBef>
              <a:spcAft>
                <a:spcPts val="200"/>
              </a:spcAft>
              <a:buClr>
                <a:srgbClr val="9CBEBD"/>
              </a:buClr>
              <a:buSzPct val="100000"/>
              <a:buFont typeface="Wingdings" panose="05000000000000000000" pitchFamily="2" charset="2"/>
              <a:buChar char="Ø"/>
              <a:tabLst/>
              <a:defRPr/>
            </a:pPr>
            <a:r>
              <a:rPr kumimoji="0" lang="en-GB" sz="2200" b="0" i="0" u="none" strike="noStrike" kern="1200" cap="none" spc="0" normalizeH="0" baseline="0" noProof="0" dirty="0">
                <a:ln>
                  <a:noFill/>
                </a:ln>
                <a:solidFill>
                  <a:srgbClr val="FFFFFF"/>
                </a:solidFill>
                <a:effectLst/>
                <a:uLnTx/>
                <a:uFillTx/>
                <a:latin typeface="Tw Cen MT" panose="020B0602020104020603"/>
                <a:ea typeface="+mn-ea"/>
                <a:cs typeface="+mn-cs"/>
              </a:rPr>
              <a:t> Brand Portfolio Performance</a:t>
            </a:r>
          </a:p>
          <a:p>
            <a:pPr lvl="1">
              <a:buFont typeface="Wingdings" panose="05000000000000000000" pitchFamily="2" charset="2"/>
              <a:buChar char="Ø"/>
            </a:pPr>
            <a:r>
              <a:rPr lang="en-GB" noProof="0" dirty="0"/>
              <a:t> Importance</a:t>
            </a:r>
          </a:p>
          <a:p>
            <a:pPr lvl="1">
              <a:buFont typeface="Wingdings" panose="05000000000000000000" pitchFamily="2" charset="2"/>
              <a:buChar char="Ø"/>
            </a:pPr>
            <a:r>
              <a:rPr lang="en-GB" dirty="0"/>
              <a:t> Output Analysis Interpretation</a:t>
            </a:r>
          </a:p>
          <a:p>
            <a:pPr marL="91440" marR="0" lvl="0" indent="-91440" algn="l" defTabSz="914400" rtl="0" eaLnBrk="1" fontAlgn="auto" latinLnBrk="0" hangingPunct="1">
              <a:lnSpc>
                <a:spcPct val="90000"/>
              </a:lnSpc>
              <a:spcBef>
                <a:spcPts val="1200"/>
              </a:spcBef>
              <a:spcAft>
                <a:spcPts val="200"/>
              </a:spcAft>
              <a:buClr>
                <a:srgbClr val="9CBEBD"/>
              </a:buClr>
              <a:buSzPct val="100000"/>
              <a:buFont typeface="Wingdings" panose="05000000000000000000" pitchFamily="2" charset="2"/>
              <a:buChar char="Ø"/>
              <a:tabLst/>
              <a:defRPr/>
            </a:pPr>
            <a:r>
              <a:rPr kumimoji="0" lang="en-GB" sz="2200" b="0" i="0" u="none" strike="noStrike" kern="1200" cap="none" spc="0" normalizeH="0" baseline="0" noProof="0" dirty="0">
                <a:ln>
                  <a:noFill/>
                </a:ln>
                <a:solidFill>
                  <a:srgbClr val="FFFFFF"/>
                </a:solidFill>
                <a:effectLst/>
                <a:uLnTx/>
                <a:uFillTx/>
                <a:latin typeface="Tw Cen MT" panose="020B0602020104020603"/>
                <a:ea typeface="+mn-ea"/>
                <a:cs typeface="+mn-cs"/>
              </a:rPr>
              <a:t> Pricing &amp; Discount Strategy</a:t>
            </a:r>
          </a:p>
          <a:p>
            <a:pPr lvl="1">
              <a:buFont typeface="Wingdings" panose="05000000000000000000" pitchFamily="2" charset="2"/>
              <a:buChar char="Ø"/>
            </a:pPr>
            <a:r>
              <a:rPr lang="en-GB" dirty="0"/>
              <a:t> Significance</a:t>
            </a:r>
          </a:p>
          <a:p>
            <a:pPr lvl="1">
              <a:buFont typeface="Wingdings" panose="05000000000000000000" pitchFamily="2" charset="2"/>
              <a:buChar char="Ø"/>
            </a:pPr>
            <a:r>
              <a:rPr lang="en-GB" dirty="0"/>
              <a:t> Output Analysis Interpretation</a:t>
            </a:r>
          </a:p>
          <a:p>
            <a:pPr marL="128016" lvl="1" indent="0">
              <a:buNone/>
            </a:pPr>
            <a:endParaRPr lang="en-GB" noProof="0" dirty="0"/>
          </a:p>
          <a:p>
            <a:pPr lvl="1">
              <a:buFont typeface="Wingdings" panose="05000000000000000000" pitchFamily="2" charset="2"/>
              <a:buChar char="Ø"/>
            </a:pPr>
            <a:endParaRPr lang="en-GB" noProof="0" dirty="0"/>
          </a:p>
        </p:txBody>
      </p:sp>
    </p:spTree>
    <p:extLst>
      <p:ext uri="{BB962C8B-B14F-4D97-AF65-F5344CB8AC3E}">
        <p14:creationId xmlns:p14="http://schemas.microsoft.com/office/powerpoint/2010/main" val="41327630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6B095-30CA-6710-7D38-188E449CD664}"/>
              </a:ext>
            </a:extLst>
          </p:cNvPr>
          <p:cNvSpPr>
            <a:spLocks noGrp="1"/>
          </p:cNvSpPr>
          <p:nvPr>
            <p:ph type="title"/>
          </p:nvPr>
        </p:nvSpPr>
        <p:spPr/>
        <p:txBody>
          <a:bodyPr/>
          <a:lstStyle/>
          <a:p>
            <a:r>
              <a:rPr lang="en-GB" noProof="0" dirty="0"/>
              <a:t>Contents (3)</a:t>
            </a:r>
          </a:p>
        </p:txBody>
      </p:sp>
      <p:sp>
        <p:nvSpPr>
          <p:cNvPr id="3" name="Content Placeholder 2">
            <a:extLst>
              <a:ext uri="{FF2B5EF4-FFF2-40B4-BE49-F238E27FC236}">
                <a16:creationId xmlns:a16="http://schemas.microsoft.com/office/drawing/2014/main" id="{79314F34-825A-F8B0-B51C-79137CD38F51}"/>
              </a:ext>
            </a:extLst>
          </p:cNvPr>
          <p:cNvSpPr>
            <a:spLocks noGrp="1"/>
          </p:cNvSpPr>
          <p:nvPr>
            <p:ph idx="1"/>
          </p:nvPr>
        </p:nvSpPr>
        <p:spPr/>
        <p:txBody>
          <a:bodyPr/>
          <a:lstStyle/>
          <a:p>
            <a:pPr>
              <a:buFont typeface="Wingdings" panose="05000000000000000000" pitchFamily="2" charset="2"/>
              <a:buChar char="Ø"/>
            </a:pPr>
            <a:r>
              <a:rPr lang="en-US" noProof="0" dirty="0"/>
              <a:t> </a:t>
            </a:r>
            <a:r>
              <a:rPr lang="en-GB" dirty="0"/>
              <a:t>Leadership &amp; Management Effectiveness</a:t>
            </a:r>
          </a:p>
          <a:p>
            <a:pPr lvl="1">
              <a:buFont typeface="Wingdings" panose="05000000000000000000" pitchFamily="2" charset="2"/>
              <a:buChar char="Ø"/>
            </a:pPr>
            <a:r>
              <a:rPr lang="en-GB" dirty="0"/>
              <a:t> Relevance</a:t>
            </a:r>
          </a:p>
          <a:p>
            <a:pPr lvl="1">
              <a:buFont typeface="Wingdings" panose="05000000000000000000" pitchFamily="2" charset="2"/>
              <a:buChar char="Ø"/>
            </a:pPr>
            <a:r>
              <a:rPr lang="en-GB" dirty="0"/>
              <a:t> Output Analysis Interpretation</a:t>
            </a:r>
          </a:p>
          <a:p>
            <a:pPr>
              <a:buFont typeface="Wingdings" panose="05000000000000000000" pitchFamily="2" charset="2"/>
              <a:buChar char="Ø"/>
            </a:pPr>
            <a:r>
              <a:rPr lang="en-GB" dirty="0"/>
              <a:t> Geographic Growth &amp; Market Expansion</a:t>
            </a:r>
          </a:p>
          <a:p>
            <a:pPr lvl="1">
              <a:buFont typeface="Wingdings" panose="05000000000000000000" pitchFamily="2" charset="2"/>
              <a:buChar char="Ø"/>
            </a:pPr>
            <a:r>
              <a:rPr lang="en-GB" dirty="0"/>
              <a:t> Importance</a:t>
            </a:r>
          </a:p>
          <a:p>
            <a:pPr lvl="1">
              <a:buFont typeface="Wingdings" panose="05000000000000000000" pitchFamily="2" charset="2"/>
              <a:buChar char="Ø"/>
            </a:pPr>
            <a:r>
              <a:rPr lang="en-GB" dirty="0"/>
              <a:t> Output Analysis Interpretation</a:t>
            </a:r>
          </a:p>
          <a:p>
            <a:pPr>
              <a:buFont typeface="Wingdings" panose="05000000000000000000" pitchFamily="2" charset="2"/>
              <a:buChar char="Ø"/>
            </a:pPr>
            <a:r>
              <a:rPr lang="en-GB" dirty="0"/>
              <a:t> Brand Discount Responsiveness</a:t>
            </a:r>
          </a:p>
          <a:p>
            <a:pPr lvl="1">
              <a:buFont typeface="Wingdings" panose="05000000000000000000" pitchFamily="2" charset="2"/>
              <a:buChar char="Ø"/>
            </a:pPr>
            <a:r>
              <a:rPr lang="en-GB" dirty="0"/>
              <a:t> Significance</a:t>
            </a:r>
          </a:p>
          <a:p>
            <a:pPr lvl="1">
              <a:buFont typeface="Wingdings" panose="05000000000000000000" pitchFamily="2" charset="2"/>
              <a:buChar char="Ø"/>
            </a:pPr>
            <a:r>
              <a:rPr lang="en-GB" dirty="0"/>
              <a:t> Output Analysis Interpretation</a:t>
            </a:r>
          </a:p>
          <a:p>
            <a:pPr>
              <a:buFont typeface="Wingdings" panose="05000000000000000000" pitchFamily="2" charset="2"/>
              <a:buChar char="Ø"/>
            </a:pPr>
            <a:r>
              <a:rPr lang="en-GB" dirty="0"/>
              <a:t> Conclusion</a:t>
            </a:r>
          </a:p>
          <a:p>
            <a:pPr>
              <a:buFont typeface="Wingdings" panose="05000000000000000000" pitchFamily="2" charset="2"/>
              <a:buChar char="Ø"/>
            </a:pPr>
            <a:endParaRPr lang="en-GB" dirty="0"/>
          </a:p>
        </p:txBody>
      </p:sp>
    </p:spTree>
    <p:extLst>
      <p:ext uri="{BB962C8B-B14F-4D97-AF65-F5344CB8AC3E}">
        <p14:creationId xmlns:p14="http://schemas.microsoft.com/office/powerpoint/2010/main" val="14611871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D6C72-DF01-FAEF-0AAE-07BA591A8ADE}"/>
              </a:ext>
            </a:extLst>
          </p:cNvPr>
          <p:cNvSpPr>
            <a:spLocks noGrp="1"/>
          </p:cNvSpPr>
          <p:nvPr>
            <p:ph type="title"/>
          </p:nvPr>
        </p:nvSpPr>
        <p:spPr/>
        <p:txBody>
          <a:bodyPr/>
          <a:lstStyle/>
          <a:p>
            <a:r>
              <a:rPr lang="en-GB" noProof="0" dirty="0"/>
              <a:t>introduction</a:t>
            </a:r>
          </a:p>
        </p:txBody>
      </p:sp>
      <p:sp>
        <p:nvSpPr>
          <p:cNvPr id="3" name="Content Placeholder 2">
            <a:extLst>
              <a:ext uri="{FF2B5EF4-FFF2-40B4-BE49-F238E27FC236}">
                <a16:creationId xmlns:a16="http://schemas.microsoft.com/office/drawing/2014/main" id="{CDFF2F6E-D9AE-859E-A8B3-7FF5368119FD}"/>
              </a:ext>
            </a:extLst>
          </p:cNvPr>
          <p:cNvSpPr>
            <a:spLocks noGrp="1"/>
          </p:cNvSpPr>
          <p:nvPr>
            <p:ph idx="1"/>
          </p:nvPr>
        </p:nvSpPr>
        <p:spPr/>
        <p:txBody>
          <a:bodyPr/>
          <a:lstStyle/>
          <a:p>
            <a:pPr marL="0" indent="0" algn="just">
              <a:buNone/>
            </a:pPr>
            <a:r>
              <a:rPr lang="en-US" dirty="0"/>
              <a:t>This report provides a comprehensive, data-driven assessment of commercial performance across products, customers, stores, brands, staff, pricing, and geographic regions, using a robust SQL Server analytics framework built on transactional retail data. The objective is to translate raw operational data into actionable business intelligence that supports strategic decision-making, operational </a:t>
            </a:r>
            <a:r>
              <a:rPr lang="en-US" dirty="0" err="1"/>
              <a:t>optimisation</a:t>
            </a:r>
            <a:r>
              <a:rPr lang="en-US" dirty="0"/>
              <a:t>, and revenue growth. By examining performance through core analytical questions, this analysis identifies key growth drivers, performance gaps, and strategic opportunities. The insights generated are designed to enable leadership to </a:t>
            </a:r>
            <a:r>
              <a:rPr lang="en-US" dirty="0" err="1"/>
              <a:t>prioritise</a:t>
            </a:r>
            <a:r>
              <a:rPr lang="en-US" dirty="0"/>
              <a:t> investments, </a:t>
            </a:r>
            <a:r>
              <a:rPr lang="en-US" dirty="0" err="1"/>
              <a:t>optimise</a:t>
            </a:r>
            <a:r>
              <a:rPr lang="en-US" dirty="0"/>
              <a:t> commercial strategy, and improve overall business profitability and competitiveness.</a:t>
            </a:r>
            <a:endParaRPr lang="en-GB" noProof="0" dirty="0"/>
          </a:p>
        </p:txBody>
      </p:sp>
    </p:spTree>
    <p:extLst>
      <p:ext uri="{BB962C8B-B14F-4D97-AF65-F5344CB8AC3E}">
        <p14:creationId xmlns:p14="http://schemas.microsoft.com/office/powerpoint/2010/main" val="2255844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56D03-1211-63A3-F47A-4714654C3C98}"/>
              </a:ext>
            </a:extLst>
          </p:cNvPr>
          <p:cNvSpPr>
            <a:spLocks noGrp="1"/>
          </p:cNvSpPr>
          <p:nvPr>
            <p:ph type="title"/>
          </p:nvPr>
        </p:nvSpPr>
        <p:spPr/>
        <p:txBody>
          <a:bodyPr>
            <a:normAutofit/>
          </a:bodyPr>
          <a:lstStyle/>
          <a:p>
            <a:r>
              <a:rPr lang="en-GB" sz="5400" noProof="0" dirty="0"/>
              <a:t>Analytical Focus &amp; Key Business Questions (1)</a:t>
            </a:r>
          </a:p>
        </p:txBody>
      </p:sp>
      <p:sp>
        <p:nvSpPr>
          <p:cNvPr id="3" name="Content Placeholder 2">
            <a:extLst>
              <a:ext uri="{FF2B5EF4-FFF2-40B4-BE49-F238E27FC236}">
                <a16:creationId xmlns:a16="http://schemas.microsoft.com/office/drawing/2014/main" id="{3349206D-4C93-F17C-230C-04A5A2A9DE65}"/>
              </a:ext>
            </a:extLst>
          </p:cNvPr>
          <p:cNvSpPr>
            <a:spLocks noGrp="1"/>
          </p:cNvSpPr>
          <p:nvPr>
            <p:ph idx="1"/>
          </p:nvPr>
        </p:nvSpPr>
        <p:spPr/>
        <p:txBody>
          <a:bodyPr/>
          <a:lstStyle/>
          <a:p>
            <a:pPr marL="457200" indent="-457200" algn="just">
              <a:buFont typeface="+mj-lt"/>
              <a:buAutoNum type="arabicPeriod"/>
            </a:pPr>
            <a:r>
              <a:rPr lang="en-GB" b="1" noProof="0" dirty="0"/>
              <a:t>Product &amp; Category Performance </a:t>
            </a:r>
            <a:r>
              <a:rPr lang="en-GB" noProof="0" dirty="0"/>
              <a:t>- Which products and categories generate the highest revenue and sales volume?</a:t>
            </a:r>
          </a:p>
          <a:p>
            <a:pPr marL="457200" indent="-457200">
              <a:buFont typeface="+mj-lt"/>
              <a:buAutoNum type="arabicPeriod"/>
            </a:pPr>
            <a:r>
              <a:rPr lang="en-GB" b="1" noProof="0" dirty="0"/>
              <a:t>Sales Trends &amp; Growth </a:t>
            </a:r>
            <a:r>
              <a:rPr lang="en-GB" noProof="0" dirty="0"/>
              <a:t>- How do sales trends vary by time (month, year)?</a:t>
            </a:r>
          </a:p>
          <a:p>
            <a:pPr marL="457200" indent="-457200">
              <a:buFont typeface="+mj-lt"/>
              <a:buAutoNum type="arabicPeriod"/>
            </a:pPr>
            <a:r>
              <a:rPr lang="en-GB" b="1" noProof="0" dirty="0"/>
              <a:t>Retail &amp; Regional Performance </a:t>
            </a:r>
            <a:r>
              <a:rPr lang="en-GB" noProof="0" dirty="0"/>
              <a:t>- Which stores and regions perform best and which are underperforming?</a:t>
            </a:r>
          </a:p>
          <a:p>
            <a:pPr marL="457200" indent="-457200">
              <a:buFont typeface="+mj-lt"/>
              <a:buAutoNum type="arabicPeriod"/>
            </a:pPr>
            <a:r>
              <a:rPr lang="en-GB" b="1" noProof="0" dirty="0"/>
              <a:t>Customer Value &amp; Loyalty </a:t>
            </a:r>
            <a:r>
              <a:rPr lang="en-GB" noProof="0" dirty="0"/>
              <a:t>- Who are our most valuable customers and what are their purchasing patterns?</a:t>
            </a:r>
          </a:p>
          <a:p>
            <a:pPr marL="457200" indent="-457200">
              <a:buFont typeface="+mj-lt"/>
              <a:buAutoNum type="arabicPeriod"/>
            </a:pPr>
            <a:r>
              <a:rPr lang="en-GB" b="1" noProof="0" dirty="0"/>
              <a:t>Staff Productivity &amp; Store Operations </a:t>
            </a:r>
            <a:r>
              <a:rPr lang="en-GB" noProof="0" dirty="0"/>
              <a:t>- How effective are staff sales performance and store operations?</a:t>
            </a:r>
            <a:endParaRPr lang="en-GB" b="1" noProof="0" dirty="0"/>
          </a:p>
        </p:txBody>
      </p:sp>
    </p:spTree>
    <p:extLst>
      <p:ext uri="{BB962C8B-B14F-4D97-AF65-F5344CB8AC3E}">
        <p14:creationId xmlns:p14="http://schemas.microsoft.com/office/powerpoint/2010/main" val="40373571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0D766-3464-D0EF-EAFD-81E20FE3B85E}"/>
              </a:ext>
            </a:extLst>
          </p:cNvPr>
          <p:cNvSpPr>
            <a:spLocks noGrp="1"/>
          </p:cNvSpPr>
          <p:nvPr>
            <p:ph type="title"/>
          </p:nvPr>
        </p:nvSpPr>
        <p:spPr/>
        <p:txBody>
          <a:bodyPr/>
          <a:lstStyle/>
          <a:p>
            <a:r>
              <a:rPr lang="en-GB" sz="5400" noProof="0" dirty="0"/>
              <a:t>Analytical Focus &amp; Key Business Questions (2)</a:t>
            </a:r>
            <a:endParaRPr lang="en-GB" noProof="0" dirty="0"/>
          </a:p>
        </p:txBody>
      </p:sp>
      <p:sp>
        <p:nvSpPr>
          <p:cNvPr id="3" name="Content Placeholder 2">
            <a:extLst>
              <a:ext uri="{FF2B5EF4-FFF2-40B4-BE49-F238E27FC236}">
                <a16:creationId xmlns:a16="http://schemas.microsoft.com/office/drawing/2014/main" id="{23360364-0109-C0B1-8C0C-E15E26CA8507}"/>
              </a:ext>
            </a:extLst>
          </p:cNvPr>
          <p:cNvSpPr>
            <a:spLocks noGrp="1"/>
          </p:cNvSpPr>
          <p:nvPr>
            <p:ph idx="1"/>
          </p:nvPr>
        </p:nvSpPr>
        <p:spPr/>
        <p:txBody>
          <a:bodyPr/>
          <a:lstStyle/>
          <a:p>
            <a:pPr marL="457200" indent="-457200" algn="just">
              <a:buFont typeface="+mj-lt"/>
              <a:buAutoNum type="arabicPeriod" startAt="6"/>
            </a:pPr>
            <a:r>
              <a:rPr lang="en-GB" b="1" noProof="0" dirty="0"/>
              <a:t>Brand Portfolio Performance </a:t>
            </a:r>
            <a:r>
              <a:rPr lang="en-GB" noProof="0" dirty="0"/>
              <a:t>- Which brands generate the highest revenue and sales volume?</a:t>
            </a:r>
          </a:p>
          <a:p>
            <a:pPr marL="457200" indent="-457200">
              <a:buFont typeface="+mj-lt"/>
              <a:buAutoNum type="arabicPeriod" startAt="6"/>
            </a:pPr>
            <a:r>
              <a:rPr lang="en-GB" b="1" noProof="0" dirty="0"/>
              <a:t>Pricing &amp; Discount Strategy </a:t>
            </a:r>
            <a:r>
              <a:rPr lang="en-GB" noProof="0" dirty="0"/>
              <a:t>- What is the optimal discount range to maximise revenue and volume?</a:t>
            </a:r>
          </a:p>
          <a:p>
            <a:pPr marL="457200" indent="-457200">
              <a:buFont typeface="+mj-lt"/>
              <a:buAutoNum type="arabicPeriod" startAt="6"/>
            </a:pPr>
            <a:r>
              <a:rPr lang="en-GB" b="1" noProof="0" dirty="0"/>
              <a:t>Leadership &amp; Management Effectiveness </a:t>
            </a:r>
            <a:r>
              <a:rPr lang="en-GB" noProof="0" dirty="0"/>
              <a:t>- How does store performance vary by manager?</a:t>
            </a:r>
          </a:p>
          <a:p>
            <a:pPr marL="457200" indent="-457200">
              <a:buFont typeface="+mj-lt"/>
              <a:buAutoNum type="arabicPeriod" startAt="6"/>
            </a:pPr>
            <a:r>
              <a:rPr lang="en-GB" b="1" noProof="0" dirty="0"/>
              <a:t>Geographic Growth &amp; Market Expansion </a:t>
            </a:r>
            <a:r>
              <a:rPr lang="en-GB" noProof="0" dirty="0"/>
              <a:t>- Which geographic regions generate the highest revenue?</a:t>
            </a:r>
          </a:p>
          <a:p>
            <a:pPr marL="457200" indent="-457200">
              <a:buFont typeface="+mj-lt"/>
              <a:buAutoNum type="arabicPeriod" startAt="6"/>
            </a:pPr>
            <a:r>
              <a:rPr lang="en-GB" b="1" noProof="0" dirty="0"/>
              <a:t>Brand Discount Responsiveness </a:t>
            </a:r>
            <a:r>
              <a:rPr lang="en-GB" noProof="0" dirty="0"/>
              <a:t>-</a:t>
            </a:r>
            <a:r>
              <a:rPr lang="en-GB" b="1" noProof="0" dirty="0"/>
              <a:t> </a:t>
            </a:r>
            <a:r>
              <a:rPr lang="en-GB" noProof="0" dirty="0"/>
              <a:t>Which brands respond best to discounting?</a:t>
            </a:r>
            <a:endParaRPr lang="en-GB" b="1" noProof="0" dirty="0"/>
          </a:p>
        </p:txBody>
      </p:sp>
    </p:spTree>
    <p:extLst>
      <p:ext uri="{BB962C8B-B14F-4D97-AF65-F5344CB8AC3E}">
        <p14:creationId xmlns:p14="http://schemas.microsoft.com/office/powerpoint/2010/main" val="38267188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B981F-94FA-1122-8445-1E7E66C73F55}"/>
              </a:ext>
            </a:extLst>
          </p:cNvPr>
          <p:cNvSpPr>
            <a:spLocks noGrp="1"/>
          </p:cNvSpPr>
          <p:nvPr>
            <p:ph type="title"/>
          </p:nvPr>
        </p:nvSpPr>
        <p:spPr/>
        <p:txBody>
          <a:bodyPr/>
          <a:lstStyle/>
          <a:p>
            <a:r>
              <a:rPr lang="en-GB" noProof="0" dirty="0"/>
              <a:t>Product &amp; Category Performance - Significance</a:t>
            </a:r>
          </a:p>
        </p:txBody>
      </p:sp>
      <p:sp>
        <p:nvSpPr>
          <p:cNvPr id="3" name="Content Placeholder 2">
            <a:extLst>
              <a:ext uri="{FF2B5EF4-FFF2-40B4-BE49-F238E27FC236}">
                <a16:creationId xmlns:a16="http://schemas.microsoft.com/office/drawing/2014/main" id="{5D705208-75B6-58C8-7E00-27129B26F77D}"/>
              </a:ext>
            </a:extLst>
          </p:cNvPr>
          <p:cNvSpPr>
            <a:spLocks noGrp="1"/>
          </p:cNvSpPr>
          <p:nvPr>
            <p:ph idx="1"/>
          </p:nvPr>
        </p:nvSpPr>
        <p:spPr/>
        <p:txBody>
          <a:bodyPr/>
          <a:lstStyle/>
          <a:p>
            <a:pPr marL="0" indent="0" algn="just">
              <a:buNone/>
            </a:pPr>
            <a:r>
              <a:rPr lang="en-GB" noProof="0" dirty="0"/>
              <a:t>Understanding which products and categories generate the highest revenue and sales volume, and how performance varies stores, is essential for optimising product strategy, pricing, and merchandising decisions. This analysis enables the business to identify high-performing product lines, rationalise underperforming categories, and align assortments with customer demand rather than relying on a standardised product mix. By optimising inventory allocation, shelf space, the business can improve sell-through rates, reduce stock holding risk, and maximise both revenue and margin performance.</a:t>
            </a:r>
          </a:p>
        </p:txBody>
      </p:sp>
    </p:spTree>
    <p:extLst>
      <p:ext uri="{BB962C8B-B14F-4D97-AF65-F5344CB8AC3E}">
        <p14:creationId xmlns:p14="http://schemas.microsoft.com/office/powerpoint/2010/main" val="37868862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6E95D-A353-EED5-7BBF-484C48DDE06E}"/>
              </a:ext>
            </a:extLst>
          </p:cNvPr>
          <p:cNvSpPr>
            <a:spLocks noGrp="1"/>
          </p:cNvSpPr>
          <p:nvPr>
            <p:ph type="title"/>
          </p:nvPr>
        </p:nvSpPr>
        <p:spPr/>
        <p:txBody>
          <a:bodyPr/>
          <a:lstStyle/>
          <a:p>
            <a:r>
              <a:rPr lang="en-GB" dirty="0"/>
              <a:t>Product &amp; Category Performance – output analysis interpretation </a:t>
            </a:r>
          </a:p>
        </p:txBody>
      </p:sp>
      <p:sp>
        <p:nvSpPr>
          <p:cNvPr id="3" name="Content Placeholder 2">
            <a:extLst>
              <a:ext uri="{FF2B5EF4-FFF2-40B4-BE49-F238E27FC236}">
                <a16:creationId xmlns:a16="http://schemas.microsoft.com/office/drawing/2014/main" id="{67790135-7F89-B04C-76AA-E1CFB7576174}"/>
              </a:ext>
            </a:extLst>
          </p:cNvPr>
          <p:cNvSpPr>
            <a:spLocks noGrp="1"/>
          </p:cNvSpPr>
          <p:nvPr>
            <p:ph idx="1"/>
          </p:nvPr>
        </p:nvSpPr>
        <p:spPr>
          <a:xfrm>
            <a:off x="1024128" y="2084832"/>
            <a:ext cx="9720073" cy="4187952"/>
          </a:xfrm>
        </p:spPr>
        <p:txBody>
          <a:bodyPr>
            <a:normAutofit fontScale="62500" lnSpcReduction="20000"/>
          </a:bodyPr>
          <a:lstStyle/>
          <a:p>
            <a:pPr marL="0" indent="0" algn="just">
              <a:buNone/>
            </a:pPr>
            <a:r>
              <a:rPr lang="en-GB" dirty="0"/>
              <a:t>Key Metrics:</a:t>
            </a:r>
          </a:p>
          <a:p>
            <a:pPr lvl="1" algn="just">
              <a:buFont typeface="Wingdings" panose="05000000000000000000" pitchFamily="2" charset="2"/>
              <a:buChar char="Ø"/>
            </a:pPr>
            <a:r>
              <a:rPr lang="en-GB" dirty="0"/>
              <a:t> </a:t>
            </a:r>
            <a:r>
              <a:rPr lang="en-US" sz="1900" dirty="0"/>
              <a:t>Total Revenue by Product &amp; Category</a:t>
            </a:r>
          </a:p>
          <a:p>
            <a:pPr lvl="1" algn="just">
              <a:buFont typeface="Wingdings" panose="05000000000000000000" pitchFamily="2" charset="2"/>
              <a:buChar char="Ø"/>
            </a:pPr>
            <a:r>
              <a:rPr lang="en-US" sz="1900" dirty="0"/>
              <a:t> </a:t>
            </a:r>
            <a:r>
              <a:rPr lang="en-GB" sz="1900" dirty="0"/>
              <a:t>Units Sold</a:t>
            </a:r>
          </a:p>
          <a:p>
            <a:pPr lvl="1" algn="just">
              <a:buFont typeface="Wingdings" panose="05000000000000000000" pitchFamily="2" charset="2"/>
              <a:buChar char="Ø"/>
            </a:pPr>
            <a:r>
              <a:rPr lang="en-GB" sz="1900" dirty="0"/>
              <a:t> Average Selling Price (ASP)</a:t>
            </a:r>
          </a:p>
          <a:p>
            <a:pPr lvl="1" algn="just">
              <a:buFont typeface="Wingdings" panose="05000000000000000000" pitchFamily="2" charset="2"/>
              <a:buChar char="Ø"/>
            </a:pPr>
            <a:r>
              <a:rPr lang="en-GB" sz="1900" dirty="0"/>
              <a:t> Revenue Contribution %</a:t>
            </a:r>
          </a:p>
          <a:p>
            <a:pPr lvl="1" algn="just">
              <a:buFont typeface="Wingdings" panose="05000000000000000000" pitchFamily="2" charset="2"/>
              <a:buChar char="Ø"/>
            </a:pPr>
            <a:r>
              <a:rPr lang="en-GB" sz="1900" dirty="0"/>
              <a:t> </a:t>
            </a:r>
            <a:r>
              <a:rPr lang="en-US" sz="1900" dirty="0"/>
              <a:t>Top 10 Products &amp; Categories by Revenue</a:t>
            </a:r>
            <a:endParaRPr lang="en-GB" sz="1900" dirty="0"/>
          </a:p>
          <a:p>
            <a:pPr marL="0" indent="0" algn="just">
              <a:buNone/>
            </a:pPr>
            <a:r>
              <a:rPr lang="en-GB" dirty="0"/>
              <a:t>Key Insights:</a:t>
            </a:r>
          </a:p>
          <a:p>
            <a:pPr lvl="1" algn="just">
              <a:buFont typeface="Wingdings" panose="05000000000000000000" pitchFamily="2" charset="2"/>
              <a:buChar char="Ø"/>
            </a:pPr>
            <a:r>
              <a:rPr lang="en-GB" dirty="0"/>
              <a:t> </a:t>
            </a:r>
            <a:r>
              <a:rPr lang="en-US" sz="1900" dirty="0"/>
              <a:t>A small group of high-performing products typically drives a disproportionate share of total revenue.</a:t>
            </a:r>
          </a:p>
          <a:p>
            <a:pPr lvl="1" algn="just">
              <a:buFont typeface="Wingdings" panose="05000000000000000000" pitchFamily="2" charset="2"/>
              <a:buChar char="Ø"/>
            </a:pPr>
            <a:r>
              <a:rPr lang="en-GB" sz="1900" dirty="0"/>
              <a:t> </a:t>
            </a:r>
            <a:r>
              <a:rPr lang="en-US" sz="1900" dirty="0"/>
              <a:t>Certain categories consistently outperform others in both revenue and volume, indicating strong customer preference.</a:t>
            </a:r>
          </a:p>
          <a:p>
            <a:pPr lvl="1" algn="just">
              <a:buFont typeface="Wingdings" panose="05000000000000000000" pitchFamily="2" charset="2"/>
              <a:buChar char="Ø"/>
            </a:pPr>
            <a:r>
              <a:rPr lang="en-GB" sz="1900" dirty="0"/>
              <a:t> </a:t>
            </a:r>
            <a:r>
              <a:rPr lang="en-US" sz="1900" dirty="0"/>
              <a:t>Long-tail products contribute limited revenue while adding inventory and operational complexity.</a:t>
            </a:r>
            <a:endParaRPr lang="en-GB" sz="1900" dirty="0"/>
          </a:p>
          <a:p>
            <a:pPr marL="0" indent="0" algn="just">
              <a:buNone/>
            </a:pPr>
            <a:r>
              <a:rPr lang="en-GB" dirty="0"/>
              <a:t>Business Implications:</a:t>
            </a:r>
          </a:p>
          <a:p>
            <a:pPr lvl="1" algn="just">
              <a:buFont typeface="Wingdings" panose="05000000000000000000" pitchFamily="2" charset="2"/>
              <a:buChar char="Ø"/>
            </a:pPr>
            <a:r>
              <a:rPr lang="en-GB" dirty="0"/>
              <a:t> </a:t>
            </a:r>
            <a:r>
              <a:rPr lang="en-US" dirty="0"/>
              <a:t>Inventory capital may be inefficiently tied up in low-performing Stock Keeping Units (SKU).</a:t>
            </a:r>
          </a:p>
          <a:p>
            <a:pPr lvl="1" algn="just">
              <a:buFont typeface="Wingdings" panose="05000000000000000000" pitchFamily="2" charset="2"/>
              <a:buChar char="Ø"/>
            </a:pPr>
            <a:r>
              <a:rPr lang="en-GB" dirty="0"/>
              <a:t> </a:t>
            </a:r>
            <a:r>
              <a:rPr lang="en-US" dirty="0"/>
              <a:t>Merchandising strategy may be misaligned with true customer demand.</a:t>
            </a:r>
          </a:p>
          <a:p>
            <a:pPr lvl="1" algn="just">
              <a:buFont typeface="Wingdings" panose="05000000000000000000" pitchFamily="2" charset="2"/>
              <a:buChar char="Ø"/>
            </a:pPr>
            <a:r>
              <a:rPr lang="en-GB" dirty="0"/>
              <a:t> </a:t>
            </a:r>
            <a:r>
              <a:rPr lang="en-US" dirty="0"/>
              <a:t>Opportunity exists to simplify assortments while increasing profitability.</a:t>
            </a:r>
            <a:endParaRPr lang="en-GB" dirty="0"/>
          </a:p>
          <a:p>
            <a:pPr marL="0" indent="0" algn="just">
              <a:buNone/>
            </a:pPr>
            <a:r>
              <a:rPr lang="en-GB" dirty="0"/>
              <a:t>Recommended Strategic Actions:</a:t>
            </a:r>
          </a:p>
          <a:p>
            <a:pPr lvl="1" algn="just">
              <a:buFont typeface="Wingdings" panose="05000000000000000000" pitchFamily="2" charset="2"/>
              <a:buChar char="Ø"/>
            </a:pPr>
            <a:r>
              <a:rPr lang="en-GB" dirty="0"/>
              <a:t> </a:t>
            </a:r>
            <a:r>
              <a:rPr lang="en-US" dirty="0" err="1"/>
              <a:t>Prioritise</a:t>
            </a:r>
            <a:r>
              <a:rPr lang="en-US" dirty="0"/>
              <a:t> inventory investment in high-performing products and categories.</a:t>
            </a:r>
          </a:p>
          <a:p>
            <a:pPr lvl="1" algn="just">
              <a:buFont typeface="Wingdings" panose="05000000000000000000" pitchFamily="2" charset="2"/>
              <a:buChar char="Ø"/>
            </a:pPr>
            <a:r>
              <a:rPr lang="en-US" dirty="0"/>
              <a:t> </a:t>
            </a:r>
            <a:r>
              <a:rPr lang="en-US" dirty="0" err="1"/>
              <a:t>Rationalise</a:t>
            </a:r>
            <a:r>
              <a:rPr lang="en-US" dirty="0"/>
              <a:t> or discontinue consistently underperforming Stock Keeping Units (SKU).</a:t>
            </a:r>
          </a:p>
          <a:p>
            <a:pPr lvl="1" algn="just">
              <a:buFont typeface="Wingdings" panose="05000000000000000000" pitchFamily="2" charset="2"/>
              <a:buChar char="Ø"/>
            </a:pPr>
            <a:r>
              <a:rPr lang="en-US" dirty="0"/>
              <a:t> Focus promotional activity and shelf space on top revenue drivers.</a:t>
            </a:r>
            <a:endParaRPr lang="en-GB" dirty="0"/>
          </a:p>
        </p:txBody>
      </p:sp>
    </p:spTree>
    <p:extLst>
      <p:ext uri="{BB962C8B-B14F-4D97-AF65-F5344CB8AC3E}">
        <p14:creationId xmlns:p14="http://schemas.microsoft.com/office/powerpoint/2010/main" val="37897603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5B628-14E4-0D2F-8CFD-E94DFF0F4F49}"/>
              </a:ext>
            </a:extLst>
          </p:cNvPr>
          <p:cNvSpPr>
            <a:spLocks noGrp="1"/>
          </p:cNvSpPr>
          <p:nvPr>
            <p:ph type="title"/>
          </p:nvPr>
        </p:nvSpPr>
        <p:spPr/>
        <p:txBody>
          <a:bodyPr/>
          <a:lstStyle/>
          <a:p>
            <a:r>
              <a:rPr lang="en-GB" noProof="0" dirty="0"/>
              <a:t>Sales Trends &amp; Growth - Relevance</a:t>
            </a:r>
          </a:p>
        </p:txBody>
      </p:sp>
      <p:sp>
        <p:nvSpPr>
          <p:cNvPr id="3" name="Content Placeholder 2">
            <a:extLst>
              <a:ext uri="{FF2B5EF4-FFF2-40B4-BE49-F238E27FC236}">
                <a16:creationId xmlns:a16="http://schemas.microsoft.com/office/drawing/2014/main" id="{F8619137-5122-E339-6AA4-6E26F661F197}"/>
              </a:ext>
            </a:extLst>
          </p:cNvPr>
          <p:cNvSpPr>
            <a:spLocks noGrp="1"/>
          </p:cNvSpPr>
          <p:nvPr>
            <p:ph idx="1"/>
          </p:nvPr>
        </p:nvSpPr>
        <p:spPr/>
        <p:txBody>
          <a:bodyPr/>
          <a:lstStyle/>
          <a:p>
            <a:pPr marL="0" indent="0" algn="just">
              <a:buNone/>
            </a:pPr>
            <a:r>
              <a:rPr lang="en-US" dirty="0"/>
              <a:t>Understanding how sales performance evolves over time is critical for identifying growth patterns, seasonality, and emerging demand shifts across the business. This analysis enables leadership to anticipate fluctuations, proactively plan inventory and staffing levels, and align promotional strategies with periods of peak customer activity rather than reacting to performance retrospectively. By embedding time-based insights into forecasting and budgeting processes, the </a:t>
            </a:r>
            <a:r>
              <a:rPr lang="en-US" dirty="0" err="1"/>
              <a:t>organisation</a:t>
            </a:r>
            <a:r>
              <a:rPr lang="en-US" dirty="0"/>
              <a:t> can improve financial predictability, operational efficiency, and long-term growth planning.</a:t>
            </a:r>
            <a:endParaRPr lang="en-GB" noProof="0" dirty="0"/>
          </a:p>
        </p:txBody>
      </p:sp>
    </p:spTree>
    <p:extLst>
      <p:ext uri="{BB962C8B-B14F-4D97-AF65-F5344CB8AC3E}">
        <p14:creationId xmlns:p14="http://schemas.microsoft.com/office/powerpoint/2010/main" val="26832012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46022-6387-46B1-C671-7B30158A0FB2}"/>
              </a:ext>
            </a:extLst>
          </p:cNvPr>
          <p:cNvSpPr>
            <a:spLocks noGrp="1"/>
          </p:cNvSpPr>
          <p:nvPr>
            <p:ph type="title"/>
          </p:nvPr>
        </p:nvSpPr>
        <p:spPr/>
        <p:txBody>
          <a:bodyPr/>
          <a:lstStyle/>
          <a:p>
            <a:r>
              <a:rPr lang="en-GB" dirty="0"/>
              <a:t>Sales Trends &amp; Growth – output analysis interpretation</a:t>
            </a:r>
          </a:p>
        </p:txBody>
      </p:sp>
      <p:sp>
        <p:nvSpPr>
          <p:cNvPr id="3" name="Content Placeholder 2">
            <a:extLst>
              <a:ext uri="{FF2B5EF4-FFF2-40B4-BE49-F238E27FC236}">
                <a16:creationId xmlns:a16="http://schemas.microsoft.com/office/drawing/2014/main" id="{A59C201D-9E69-6779-C763-8B08F3684CA9}"/>
              </a:ext>
            </a:extLst>
          </p:cNvPr>
          <p:cNvSpPr>
            <a:spLocks noGrp="1"/>
          </p:cNvSpPr>
          <p:nvPr>
            <p:ph idx="1"/>
          </p:nvPr>
        </p:nvSpPr>
        <p:spPr>
          <a:xfrm>
            <a:off x="1024128" y="2084832"/>
            <a:ext cx="9720073" cy="4224528"/>
          </a:xfrm>
        </p:spPr>
        <p:txBody>
          <a:bodyPr>
            <a:normAutofit fontScale="77500" lnSpcReduction="20000"/>
          </a:bodyPr>
          <a:lstStyle/>
          <a:p>
            <a:pPr marL="0" indent="0">
              <a:buNone/>
            </a:pPr>
            <a:r>
              <a:rPr lang="en-US" dirty="0"/>
              <a:t>Key Metrics:</a:t>
            </a:r>
          </a:p>
          <a:p>
            <a:pPr lvl="1">
              <a:buFont typeface="Wingdings" panose="05000000000000000000" pitchFamily="2" charset="2"/>
              <a:buChar char="Ø"/>
            </a:pPr>
            <a:r>
              <a:rPr lang="en-US" dirty="0"/>
              <a:t> </a:t>
            </a:r>
            <a:r>
              <a:rPr lang="en-GB" dirty="0"/>
              <a:t>Monthly Revenue Trend</a:t>
            </a:r>
          </a:p>
          <a:p>
            <a:pPr lvl="1">
              <a:buFont typeface="Wingdings" panose="05000000000000000000" pitchFamily="2" charset="2"/>
              <a:buChar char="Ø"/>
            </a:pPr>
            <a:r>
              <a:rPr lang="en-GB" dirty="0"/>
              <a:t> Year-over-Year Growth (%)</a:t>
            </a:r>
          </a:p>
          <a:p>
            <a:pPr lvl="1">
              <a:buFont typeface="Wingdings" panose="05000000000000000000" pitchFamily="2" charset="2"/>
              <a:buChar char="Ø"/>
            </a:pPr>
            <a:r>
              <a:rPr lang="en-GB" dirty="0"/>
              <a:t> </a:t>
            </a:r>
            <a:r>
              <a:rPr lang="en-US" dirty="0"/>
              <a:t>Seasonal Peak vs Off-Peak Sales Periods</a:t>
            </a:r>
          </a:p>
          <a:p>
            <a:pPr marL="0" indent="0">
              <a:buNone/>
            </a:pPr>
            <a:r>
              <a:rPr lang="en-US" dirty="0"/>
              <a:t>Key Insights:</a:t>
            </a:r>
          </a:p>
          <a:p>
            <a:pPr lvl="1">
              <a:buFont typeface="Wingdings" panose="05000000000000000000" pitchFamily="2" charset="2"/>
              <a:buChar char="Ø"/>
            </a:pPr>
            <a:r>
              <a:rPr lang="en-US" dirty="0"/>
              <a:t> Sales exhibit clear seasonal patterns, with predictable peak and trough periods.</a:t>
            </a:r>
          </a:p>
          <a:p>
            <a:pPr lvl="1">
              <a:buFont typeface="Wingdings" panose="05000000000000000000" pitchFamily="2" charset="2"/>
              <a:buChar char="Ø"/>
            </a:pPr>
            <a:r>
              <a:rPr lang="en-US" dirty="0"/>
              <a:t> Certain months consistently outperform others, indicating demand cycles.</a:t>
            </a:r>
          </a:p>
          <a:p>
            <a:pPr lvl="1">
              <a:buFont typeface="Wingdings" panose="05000000000000000000" pitchFamily="2" charset="2"/>
              <a:buChar char="Ø"/>
            </a:pPr>
            <a:r>
              <a:rPr lang="en-US" dirty="0"/>
              <a:t> Volatility in monthly revenue may reveal operational or promotional inefficiencies.</a:t>
            </a:r>
          </a:p>
          <a:p>
            <a:pPr marL="0" indent="0">
              <a:buNone/>
            </a:pPr>
            <a:r>
              <a:rPr lang="en-US" dirty="0"/>
              <a:t>Business Implications:</a:t>
            </a:r>
          </a:p>
          <a:p>
            <a:pPr lvl="1">
              <a:buFont typeface="Wingdings" panose="05000000000000000000" pitchFamily="2" charset="2"/>
              <a:buChar char="Ø"/>
            </a:pPr>
            <a:r>
              <a:rPr lang="en-US" dirty="0"/>
              <a:t> Poor demand forecasting risks stockouts or excess inventory.</a:t>
            </a:r>
          </a:p>
          <a:p>
            <a:pPr lvl="1">
              <a:buFont typeface="Wingdings" panose="05000000000000000000" pitchFamily="2" charset="2"/>
              <a:buChar char="Ø"/>
            </a:pPr>
            <a:r>
              <a:rPr lang="en-US" dirty="0"/>
              <a:t> Budgeting and staffing levels may not be optimally aligned to demand.</a:t>
            </a:r>
          </a:p>
          <a:p>
            <a:pPr lvl="1">
              <a:buFont typeface="Wingdings" panose="05000000000000000000" pitchFamily="2" charset="2"/>
              <a:buChar char="Ø"/>
            </a:pPr>
            <a:r>
              <a:rPr lang="en-US" dirty="0"/>
              <a:t> Missed opportunities to exploit high-demand periods.</a:t>
            </a:r>
          </a:p>
          <a:p>
            <a:pPr marL="0" indent="0">
              <a:buNone/>
            </a:pPr>
            <a:r>
              <a:rPr lang="en-US" dirty="0"/>
              <a:t>Recommended Strategic Actions:</a:t>
            </a:r>
          </a:p>
          <a:p>
            <a:pPr lvl="1">
              <a:buFont typeface="Wingdings" panose="05000000000000000000" pitchFamily="2" charset="2"/>
              <a:buChar char="Ø"/>
            </a:pPr>
            <a:r>
              <a:rPr lang="en-US" dirty="0"/>
              <a:t> Align inventory procurement and workforce planning with seasonal demand.</a:t>
            </a:r>
          </a:p>
          <a:p>
            <a:pPr lvl="1">
              <a:buFont typeface="Wingdings" panose="05000000000000000000" pitchFamily="2" charset="2"/>
              <a:buChar char="Ø"/>
            </a:pPr>
            <a:r>
              <a:rPr lang="en-US" dirty="0"/>
              <a:t> </a:t>
            </a:r>
            <a:r>
              <a:rPr lang="en-US" dirty="0" err="1"/>
              <a:t>Optimise</a:t>
            </a:r>
            <a:r>
              <a:rPr lang="en-US" dirty="0"/>
              <a:t> promotional timing to amplify peak sales periods.</a:t>
            </a:r>
          </a:p>
          <a:p>
            <a:pPr lvl="1">
              <a:buFont typeface="Wingdings" panose="05000000000000000000" pitchFamily="2" charset="2"/>
              <a:buChar char="Ø"/>
            </a:pPr>
            <a:r>
              <a:rPr lang="en-US" dirty="0"/>
              <a:t> Improve forecasting models using historical seasonality patterns.</a:t>
            </a:r>
            <a:endParaRPr lang="en-GB" dirty="0"/>
          </a:p>
        </p:txBody>
      </p:sp>
    </p:spTree>
    <p:extLst>
      <p:ext uri="{BB962C8B-B14F-4D97-AF65-F5344CB8AC3E}">
        <p14:creationId xmlns:p14="http://schemas.microsoft.com/office/powerpoint/2010/main" val="28071743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B5553-FF95-1311-4E87-615F81BF239C}"/>
              </a:ext>
            </a:extLst>
          </p:cNvPr>
          <p:cNvSpPr>
            <a:spLocks noGrp="1"/>
          </p:cNvSpPr>
          <p:nvPr>
            <p:ph type="title"/>
          </p:nvPr>
        </p:nvSpPr>
        <p:spPr/>
        <p:txBody>
          <a:bodyPr/>
          <a:lstStyle/>
          <a:p>
            <a:r>
              <a:rPr lang="en-GB" noProof="0" dirty="0"/>
              <a:t>Retail &amp; Regional Performance - Importance</a:t>
            </a:r>
          </a:p>
        </p:txBody>
      </p:sp>
      <p:sp>
        <p:nvSpPr>
          <p:cNvPr id="3" name="Content Placeholder 2">
            <a:extLst>
              <a:ext uri="{FF2B5EF4-FFF2-40B4-BE49-F238E27FC236}">
                <a16:creationId xmlns:a16="http://schemas.microsoft.com/office/drawing/2014/main" id="{47875FF8-9541-D210-AFD1-A08ABD048F8B}"/>
              </a:ext>
            </a:extLst>
          </p:cNvPr>
          <p:cNvSpPr>
            <a:spLocks noGrp="1"/>
          </p:cNvSpPr>
          <p:nvPr>
            <p:ph idx="1"/>
          </p:nvPr>
        </p:nvSpPr>
        <p:spPr/>
        <p:txBody>
          <a:bodyPr/>
          <a:lstStyle/>
          <a:p>
            <a:pPr algn="just"/>
            <a:r>
              <a:rPr lang="en-US" dirty="0"/>
              <a:t>Understanding how store and regional performance varies across the retail footprint is essential for </a:t>
            </a:r>
            <a:r>
              <a:rPr lang="en-US" dirty="0" err="1"/>
              <a:t>optimising</a:t>
            </a:r>
            <a:r>
              <a:rPr lang="en-US" dirty="0"/>
              <a:t> market strategy, capital allocation, and operational focus. This analysis enables the business to identify high-performing locations, detect underperforming stores, and uncover regional demand patterns that inform </a:t>
            </a:r>
            <a:r>
              <a:rPr lang="en-US" dirty="0" err="1"/>
              <a:t>localised</a:t>
            </a:r>
            <a:r>
              <a:rPr lang="en-US" dirty="0"/>
              <a:t> merchandising and marketing strategies. By aligning investment, staffing, and operational initiatives with geographic performance insights, the </a:t>
            </a:r>
            <a:r>
              <a:rPr lang="en-US" dirty="0" err="1"/>
              <a:t>organisation</a:t>
            </a:r>
            <a:r>
              <a:rPr lang="en-US" dirty="0"/>
              <a:t> can improve store profitability, enhance customer experience, and drive sustainable regional growth.</a:t>
            </a:r>
            <a:endParaRPr lang="en-GB" noProof="0" dirty="0"/>
          </a:p>
        </p:txBody>
      </p:sp>
    </p:spTree>
    <p:extLst>
      <p:ext uri="{BB962C8B-B14F-4D97-AF65-F5344CB8AC3E}">
        <p14:creationId xmlns:p14="http://schemas.microsoft.com/office/powerpoint/2010/main" val="2641533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CAF63-42D1-AD19-6B94-E4B6464638EC}"/>
              </a:ext>
            </a:extLst>
          </p:cNvPr>
          <p:cNvSpPr>
            <a:spLocks noGrp="1"/>
          </p:cNvSpPr>
          <p:nvPr>
            <p:ph type="title"/>
          </p:nvPr>
        </p:nvSpPr>
        <p:spPr/>
        <p:txBody>
          <a:bodyPr/>
          <a:lstStyle/>
          <a:p>
            <a:r>
              <a:rPr lang="en-GB" dirty="0"/>
              <a:t>Retail &amp; Regional Performance – output analysis interpretation</a:t>
            </a:r>
          </a:p>
        </p:txBody>
      </p:sp>
      <p:sp>
        <p:nvSpPr>
          <p:cNvPr id="3" name="Content Placeholder 2">
            <a:extLst>
              <a:ext uri="{FF2B5EF4-FFF2-40B4-BE49-F238E27FC236}">
                <a16:creationId xmlns:a16="http://schemas.microsoft.com/office/drawing/2014/main" id="{912DB949-7A1F-5EF3-39FB-D3D880144EE0}"/>
              </a:ext>
            </a:extLst>
          </p:cNvPr>
          <p:cNvSpPr>
            <a:spLocks noGrp="1"/>
          </p:cNvSpPr>
          <p:nvPr>
            <p:ph idx="1"/>
          </p:nvPr>
        </p:nvSpPr>
        <p:spPr>
          <a:xfrm>
            <a:off x="1024128" y="2084832"/>
            <a:ext cx="9720073" cy="4224528"/>
          </a:xfrm>
        </p:spPr>
        <p:txBody>
          <a:bodyPr>
            <a:normAutofit fontScale="70000" lnSpcReduction="20000"/>
          </a:bodyPr>
          <a:lstStyle/>
          <a:p>
            <a:pPr marL="0" indent="0">
              <a:buNone/>
            </a:pPr>
            <a:r>
              <a:rPr lang="en-US" dirty="0"/>
              <a:t>Key Metrics:</a:t>
            </a:r>
          </a:p>
          <a:p>
            <a:pPr lvl="1">
              <a:buFont typeface="Wingdings" panose="05000000000000000000" pitchFamily="2" charset="2"/>
              <a:buChar char="Ø"/>
            </a:pPr>
            <a:r>
              <a:rPr lang="en-US" dirty="0"/>
              <a:t> </a:t>
            </a:r>
            <a:r>
              <a:rPr lang="en-GB" dirty="0"/>
              <a:t>Revenue by Store</a:t>
            </a:r>
          </a:p>
          <a:p>
            <a:pPr lvl="1">
              <a:buFont typeface="Wingdings" panose="05000000000000000000" pitchFamily="2" charset="2"/>
              <a:buChar char="Ø"/>
            </a:pPr>
            <a:r>
              <a:rPr lang="en-GB" dirty="0"/>
              <a:t> Orders by Store</a:t>
            </a:r>
          </a:p>
          <a:p>
            <a:pPr lvl="1">
              <a:buFont typeface="Wingdings" panose="05000000000000000000" pitchFamily="2" charset="2"/>
              <a:buChar char="Ø"/>
            </a:pPr>
            <a:r>
              <a:rPr lang="en-GB" dirty="0"/>
              <a:t> Average Order Value (AOV)</a:t>
            </a:r>
          </a:p>
          <a:p>
            <a:pPr lvl="1">
              <a:buFont typeface="Wingdings" panose="05000000000000000000" pitchFamily="2" charset="2"/>
              <a:buChar char="Ø"/>
            </a:pPr>
            <a:r>
              <a:rPr lang="en-GB" dirty="0"/>
              <a:t> Revenue per Staff Member</a:t>
            </a:r>
            <a:endParaRPr lang="en-US" dirty="0"/>
          </a:p>
          <a:p>
            <a:pPr marL="0" indent="0">
              <a:buNone/>
            </a:pPr>
            <a:r>
              <a:rPr lang="en-US" dirty="0"/>
              <a:t>Key Insights:</a:t>
            </a:r>
          </a:p>
          <a:p>
            <a:pPr lvl="1">
              <a:buFont typeface="Wingdings" panose="05000000000000000000" pitchFamily="2" charset="2"/>
              <a:buChar char="Ø"/>
            </a:pPr>
            <a:r>
              <a:rPr lang="en-US" dirty="0"/>
              <a:t> </a:t>
            </a:r>
            <a:r>
              <a:rPr lang="en-GB" dirty="0"/>
              <a:t>Significant performance variance exists across store locations.</a:t>
            </a:r>
          </a:p>
          <a:p>
            <a:pPr lvl="1">
              <a:buFont typeface="Wingdings" panose="05000000000000000000" pitchFamily="2" charset="2"/>
              <a:buChar char="Ø"/>
            </a:pPr>
            <a:r>
              <a:rPr lang="en-GB" dirty="0"/>
              <a:t> </a:t>
            </a:r>
            <a:r>
              <a:rPr lang="en-US" dirty="0"/>
              <a:t>Some stores consistently outperform peers, while others structurally underperform.</a:t>
            </a:r>
          </a:p>
          <a:p>
            <a:pPr lvl="1">
              <a:buFont typeface="Wingdings" panose="05000000000000000000" pitchFamily="2" charset="2"/>
              <a:buChar char="Ø"/>
            </a:pPr>
            <a:r>
              <a:rPr lang="en-US" dirty="0"/>
              <a:t> AOV differences suggest uneven customer engagement or selling effectiveness.</a:t>
            </a:r>
          </a:p>
          <a:p>
            <a:pPr marL="0" indent="0">
              <a:buNone/>
            </a:pPr>
            <a:r>
              <a:rPr lang="en-US" dirty="0"/>
              <a:t>Business Implications:</a:t>
            </a:r>
          </a:p>
          <a:p>
            <a:pPr lvl="1">
              <a:buFont typeface="Wingdings" panose="05000000000000000000" pitchFamily="2" charset="2"/>
              <a:buChar char="Ø"/>
            </a:pPr>
            <a:r>
              <a:rPr lang="en-US" dirty="0"/>
              <a:t> </a:t>
            </a:r>
            <a:r>
              <a:rPr lang="nb-NO" dirty="0"/>
              <a:t>Underperforming stores dilute overall profitability.</a:t>
            </a:r>
          </a:p>
          <a:p>
            <a:pPr lvl="1">
              <a:buFont typeface="Wingdings" panose="05000000000000000000" pitchFamily="2" charset="2"/>
              <a:buChar char="Ø"/>
            </a:pPr>
            <a:r>
              <a:rPr lang="en-US" dirty="0"/>
              <a:t> Best-performing stores reveal replicable operational best practices.</a:t>
            </a:r>
          </a:p>
          <a:p>
            <a:pPr lvl="1">
              <a:buFont typeface="Wingdings" panose="05000000000000000000" pitchFamily="2" charset="2"/>
              <a:buChar char="Ø"/>
            </a:pPr>
            <a:r>
              <a:rPr lang="en-US" dirty="0"/>
              <a:t> Investment decisions may be misallocated geographically.</a:t>
            </a:r>
          </a:p>
          <a:p>
            <a:pPr marL="0" indent="0">
              <a:buNone/>
            </a:pPr>
            <a:r>
              <a:rPr lang="en-US" dirty="0"/>
              <a:t>Recommended Strategic Actions:</a:t>
            </a:r>
          </a:p>
          <a:p>
            <a:pPr lvl="1">
              <a:buFont typeface="Wingdings" panose="05000000000000000000" pitchFamily="2" charset="2"/>
              <a:buChar char="Ø"/>
            </a:pPr>
            <a:r>
              <a:rPr lang="en-GB" dirty="0"/>
              <a:t> </a:t>
            </a:r>
            <a:r>
              <a:rPr lang="en-US" dirty="0"/>
              <a:t>Launch targeted improvement programs for underperforming stores.</a:t>
            </a:r>
          </a:p>
          <a:p>
            <a:pPr lvl="1">
              <a:buFont typeface="Wingdings" panose="05000000000000000000" pitchFamily="2" charset="2"/>
              <a:buChar char="Ø"/>
            </a:pPr>
            <a:r>
              <a:rPr lang="en-US" dirty="0"/>
              <a:t> Replicate best-practice operational models across weaker locations.</a:t>
            </a:r>
          </a:p>
          <a:p>
            <a:pPr lvl="1">
              <a:buFont typeface="Wingdings" panose="05000000000000000000" pitchFamily="2" charset="2"/>
              <a:buChar char="Ø"/>
            </a:pPr>
            <a:r>
              <a:rPr lang="en-US" dirty="0"/>
              <a:t> </a:t>
            </a:r>
            <a:r>
              <a:rPr lang="en-US" dirty="0" err="1"/>
              <a:t>Prioritise</a:t>
            </a:r>
            <a:r>
              <a:rPr lang="en-US" dirty="0"/>
              <a:t> capital investments in high-growth geographies.</a:t>
            </a:r>
            <a:endParaRPr lang="en-GB" dirty="0"/>
          </a:p>
        </p:txBody>
      </p:sp>
    </p:spTree>
    <p:extLst>
      <p:ext uri="{BB962C8B-B14F-4D97-AF65-F5344CB8AC3E}">
        <p14:creationId xmlns:p14="http://schemas.microsoft.com/office/powerpoint/2010/main" val="21459138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BF141-FC3B-E8D8-0FB1-335E35AD1FA2}"/>
              </a:ext>
            </a:extLst>
          </p:cNvPr>
          <p:cNvSpPr>
            <a:spLocks noGrp="1"/>
          </p:cNvSpPr>
          <p:nvPr>
            <p:ph type="title"/>
          </p:nvPr>
        </p:nvSpPr>
        <p:spPr/>
        <p:txBody>
          <a:bodyPr/>
          <a:lstStyle/>
          <a:p>
            <a:r>
              <a:rPr lang="en-GB" noProof="0" dirty="0"/>
              <a:t>Customer Value &amp; Loyalty - significance</a:t>
            </a:r>
          </a:p>
        </p:txBody>
      </p:sp>
      <p:sp>
        <p:nvSpPr>
          <p:cNvPr id="3" name="Content Placeholder 2">
            <a:extLst>
              <a:ext uri="{FF2B5EF4-FFF2-40B4-BE49-F238E27FC236}">
                <a16:creationId xmlns:a16="http://schemas.microsoft.com/office/drawing/2014/main" id="{AC70BFD3-C4E6-B1DE-51E2-C7D01C5A694A}"/>
              </a:ext>
            </a:extLst>
          </p:cNvPr>
          <p:cNvSpPr>
            <a:spLocks noGrp="1"/>
          </p:cNvSpPr>
          <p:nvPr>
            <p:ph idx="1"/>
          </p:nvPr>
        </p:nvSpPr>
        <p:spPr/>
        <p:txBody>
          <a:bodyPr/>
          <a:lstStyle/>
          <a:p>
            <a:pPr marL="0" indent="0" algn="just">
              <a:buNone/>
            </a:pPr>
            <a:r>
              <a:rPr lang="en-US" dirty="0"/>
              <a:t>Understanding who the most valuable customers are and how their purchasing </a:t>
            </a:r>
            <a:r>
              <a:rPr lang="en-US" dirty="0" err="1"/>
              <a:t>behaviours</a:t>
            </a:r>
            <a:r>
              <a:rPr lang="en-US" dirty="0"/>
              <a:t> differ across segments is fundamental to </a:t>
            </a:r>
            <a:r>
              <a:rPr lang="en-US" dirty="0" err="1"/>
              <a:t>maximising</a:t>
            </a:r>
            <a:r>
              <a:rPr lang="en-US" dirty="0"/>
              <a:t> customer lifetime value and loyalty. This analysis enables the business to identify high-impact customer groups, </a:t>
            </a:r>
            <a:r>
              <a:rPr lang="en-US" dirty="0" err="1"/>
              <a:t>personalise</a:t>
            </a:r>
            <a:r>
              <a:rPr lang="en-US" dirty="0"/>
              <a:t> engagement strategies, and design targeted retention initiatives rather than applying uniform marketing approaches. By aligning loyalty </a:t>
            </a:r>
            <a:r>
              <a:rPr lang="en-US" dirty="0" err="1"/>
              <a:t>programmes</a:t>
            </a:r>
            <a:r>
              <a:rPr lang="en-US" dirty="0"/>
              <a:t>, promotions, and product offerings with customer </a:t>
            </a:r>
            <a:r>
              <a:rPr lang="en-US" dirty="0" err="1"/>
              <a:t>behaviour</a:t>
            </a:r>
            <a:r>
              <a:rPr lang="en-US" dirty="0"/>
              <a:t> insights, the </a:t>
            </a:r>
            <a:r>
              <a:rPr lang="en-US" dirty="0" err="1"/>
              <a:t>organisation</a:t>
            </a:r>
            <a:r>
              <a:rPr lang="en-US" dirty="0"/>
              <a:t> can strengthen long-term relationships, improve retention, and drive sustainable revenue growth.</a:t>
            </a:r>
            <a:endParaRPr lang="en-GB" noProof="0" dirty="0"/>
          </a:p>
        </p:txBody>
      </p:sp>
    </p:spTree>
    <p:extLst>
      <p:ext uri="{BB962C8B-B14F-4D97-AF65-F5344CB8AC3E}">
        <p14:creationId xmlns:p14="http://schemas.microsoft.com/office/powerpoint/2010/main" val="16915622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6F197-65B7-5888-C39C-CBC9F8A180DC}"/>
              </a:ext>
            </a:extLst>
          </p:cNvPr>
          <p:cNvSpPr>
            <a:spLocks noGrp="1"/>
          </p:cNvSpPr>
          <p:nvPr>
            <p:ph type="title"/>
          </p:nvPr>
        </p:nvSpPr>
        <p:spPr/>
        <p:txBody>
          <a:bodyPr/>
          <a:lstStyle/>
          <a:p>
            <a:r>
              <a:rPr lang="en-GB" dirty="0"/>
              <a:t>Customer Value &amp; Loyalty – output analysis interpretation</a:t>
            </a:r>
          </a:p>
        </p:txBody>
      </p:sp>
      <p:sp>
        <p:nvSpPr>
          <p:cNvPr id="3" name="Content Placeholder 2">
            <a:extLst>
              <a:ext uri="{FF2B5EF4-FFF2-40B4-BE49-F238E27FC236}">
                <a16:creationId xmlns:a16="http://schemas.microsoft.com/office/drawing/2014/main" id="{7A64F906-316C-8B27-77BD-94F71555D479}"/>
              </a:ext>
            </a:extLst>
          </p:cNvPr>
          <p:cNvSpPr>
            <a:spLocks noGrp="1"/>
          </p:cNvSpPr>
          <p:nvPr>
            <p:ph idx="1"/>
          </p:nvPr>
        </p:nvSpPr>
        <p:spPr>
          <a:xfrm>
            <a:off x="1024128" y="2084832"/>
            <a:ext cx="9720073" cy="4224528"/>
          </a:xfrm>
        </p:spPr>
        <p:txBody>
          <a:bodyPr>
            <a:normAutofit fontScale="70000" lnSpcReduction="20000"/>
          </a:bodyPr>
          <a:lstStyle/>
          <a:p>
            <a:pPr marL="0" indent="0">
              <a:buNone/>
            </a:pPr>
            <a:r>
              <a:rPr lang="en-US" dirty="0"/>
              <a:t>Key Metrics:</a:t>
            </a:r>
          </a:p>
          <a:p>
            <a:pPr lvl="1">
              <a:buFont typeface="Wingdings" panose="05000000000000000000" pitchFamily="2" charset="2"/>
              <a:buChar char="Ø"/>
            </a:pPr>
            <a:r>
              <a:rPr lang="en-US" dirty="0"/>
              <a:t> Top 10 Customers by Lifetime Value</a:t>
            </a:r>
          </a:p>
          <a:p>
            <a:pPr lvl="1">
              <a:buFont typeface="Wingdings" panose="05000000000000000000" pitchFamily="2" charset="2"/>
              <a:buChar char="Ø"/>
            </a:pPr>
            <a:r>
              <a:rPr lang="en-US" dirty="0"/>
              <a:t> </a:t>
            </a:r>
            <a:r>
              <a:rPr lang="en-GB" dirty="0"/>
              <a:t>Average Spend per Customer</a:t>
            </a:r>
          </a:p>
          <a:p>
            <a:pPr lvl="1">
              <a:buFont typeface="Wingdings" panose="05000000000000000000" pitchFamily="2" charset="2"/>
              <a:buChar char="Ø"/>
            </a:pPr>
            <a:r>
              <a:rPr lang="en-GB" dirty="0"/>
              <a:t> Purchase Frequency</a:t>
            </a:r>
          </a:p>
          <a:p>
            <a:pPr lvl="1">
              <a:buFont typeface="Wingdings" panose="05000000000000000000" pitchFamily="2" charset="2"/>
              <a:buChar char="Ø"/>
            </a:pPr>
            <a:r>
              <a:rPr lang="en-GB" dirty="0"/>
              <a:t> Repeat Purchase Rate</a:t>
            </a:r>
            <a:endParaRPr lang="en-US" dirty="0"/>
          </a:p>
          <a:p>
            <a:pPr marL="0" indent="0">
              <a:buNone/>
            </a:pPr>
            <a:r>
              <a:rPr lang="en-US" dirty="0"/>
              <a:t>Key Insights:</a:t>
            </a:r>
          </a:p>
          <a:p>
            <a:pPr lvl="1">
              <a:buFont typeface="Wingdings" panose="05000000000000000000" pitchFamily="2" charset="2"/>
              <a:buChar char="Ø"/>
            </a:pPr>
            <a:r>
              <a:rPr lang="en-US" dirty="0"/>
              <a:t> A small group of customers generates a disproportionate share of total revenue.</a:t>
            </a:r>
          </a:p>
          <a:p>
            <a:pPr lvl="1">
              <a:buFont typeface="Wingdings" panose="05000000000000000000" pitchFamily="2" charset="2"/>
              <a:buChar char="Ø"/>
            </a:pPr>
            <a:r>
              <a:rPr lang="en-US" dirty="0"/>
              <a:t> High-value customers exhibit repeat purchasing and higher basket sizes.</a:t>
            </a:r>
          </a:p>
          <a:p>
            <a:pPr lvl="1">
              <a:buFont typeface="Wingdings" panose="05000000000000000000" pitchFamily="2" charset="2"/>
              <a:buChar char="Ø"/>
            </a:pPr>
            <a:r>
              <a:rPr lang="en-US" dirty="0"/>
              <a:t> Long-tail customers contribute limited lifetime value.</a:t>
            </a:r>
          </a:p>
          <a:p>
            <a:pPr marL="0" indent="0">
              <a:buNone/>
            </a:pPr>
            <a:r>
              <a:rPr lang="en-US" dirty="0"/>
              <a:t>Business Implications:</a:t>
            </a:r>
          </a:p>
          <a:p>
            <a:pPr lvl="1">
              <a:buFont typeface="Wingdings" panose="05000000000000000000" pitchFamily="2" charset="2"/>
              <a:buChar char="Ø"/>
            </a:pPr>
            <a:r>
              <a:rPr lang="en-US" dirty="0"/>
              <a:t> Retention of top customers has a direct impact on profitability.</a:t>
            </a:r>
          </a:p>
          <a:p>
            <a:pPr lvl="1">
              <a:buFont typeface="Wingdings" panose="05000000000000000000" pitchFamily="2" charset="2"/>
              <a:buChar char="Ø"/>
            </a:pPr>
            <a:r>
              <a:rPr lang="en-US" dirty="0"/>
              <a:t> Untapped opportunities exist to grow mid-tier customers into high-value segments.</a:t>
            </a:r>
          </a:p>
          <a:p>
            <a:pPr lvl="1">
              <a:buFont typeface="Wingdings" panose="05000000000000000000" pitchFamily="2" charset="2"/>
              <a:buChar char="Ø"/>
            </a:pPr>
            <a:r>
              <a:rPr lang="en-US" dirty="0"/>
              <a:t> Blanket marketing campaigns likely deliver suboptimal Return of Investment (ROI).</a:t>
            </a:r>
          </a:p>
          <a:p>
            <a:pPr marL="0" indent="0">
              <a:buNone/>
            </a:pPr>
            <a:r>
              <a:rPr lang="en-US" dirty="0"/>
              <a:t>Recommended Strategic Actions:</a:t>
            </a:r>
          </a:p>
          <a:p>
            <a:pPr lvl="1">
              <a:buFont typeface="Wingdings" panose="05000000000000000000" pitchFamily="2" charset="2"/>
              <a:buChar char="Ø"/>
            </a:pPr>
            <a:r>
              <a:rPr lang="en-US" dirty="0"/>
              <a:t> Implement tiered loyalty and retention programs.</a:t>
            </a:r>
          </a:p>
          <a:p>
            <a:pPr lvl="1">
              <a:buFont typeface="Wingdings" panose="05000000000000000000" pitchFamily="2" charset="2"/>
              <a:buChar char="Ø"/>
            </a:pPr>
            <a:r>
              <a:rPr lang="en-GB" dirty="0"/>
              <a:t> </a:t>
            </a:r>
            <a:r>
              <a:rPr lang="en-US" dirty="0" err="1"/>
              <a:t>Personalise</a:t>
            </a:r>
            <a:r>
              <a:rPr lang="en-US" dirty="0"/>
              <a:t> offers for high-value and growth-potential customers.</a:t>
            </a:r>
          </a:p>
          <a:p>
            <a:pPr lvl="1">
              <a:buFont typeface="Wingdings" panose="05000000000000000000" pitchFamily="2" charset="2"/>
              <a:buChar char="Ø"/>
            </a:pPr>
            <a:r>
              <a:rPr lang="en-US" dirty="0"/>
              <a:t> Shift marketing spend toward lifecycle-based engagement strategies.</a:t>
            </a:r>
            <a:endParaRPr lang="en-GB" dirty="0"/>
          </a:p>
        </p:txBody>
      </p:sp>
    </p:spTree>
    <p:extLst>
      <p:ext uri="{BB962C8B-B14F-4D97-AF65-F5344CB8AC3E}">
        <p14:creationId xmlns:p14="http://schemas.microsoft.com/office/powerpoint/2010/main" val="41056038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FBE72-B57B-C65F-CD0C-363667B074D9}"/>
              </a:ext>
            </a:extLst>
          </p:cNvPr>
          <p:cNvSpPr>
            <a:spLocks noGrp="1"/>
          </p:cNvSpPr>
          <p:nvPr>
            <p:ph type="title"/>
          </p:nvPr>
        </p:nvSpPr>
        <p:spPr/>
        <p:txBody>
          <a:bodyPr/>
          <a:lstStyle/>
          <a:p>
            <a:r>
              <a:rPr lang="en-GB" noProof="0" dirty="0"/>
              <a:t>Staff Productivity &amp; Store Operations - relevance</a:t>
            </a:r>
          </a:p>
        </p:txBody>
      </p:sp>
      <p:sp>
        <p:nvSpPr>
          <p:cNvPr id="3" name="Content Placeholder 2">
            <a:extLst>
              <a:ext uri="{FF2B5EF4-FFF2-40B4-BE49-F238E27FC236}">
                <a16:creationId xmlns:a16="http://schemas.microsoft.com/office/drawing/2014/main" id="{8212D33C-2AA8-85FE-55FB-AEA6572E6886}"/>
              </a:ext>
            </a:extLst>
          </p:cNvPr>
          <p:cNvSpPr>
            <a:spLocks noGrp="1"/>
          </p:cNvSpPr>
          <p:nvPr>
            <p:ph idx="1"/>
          </p:nvPr>
        </p:nvSpPr>
        <p:spPr/>
        <p:txBody>
          <a:bodyPr/>
          <a:lstStyle/>
          <a:p>
            <a:pPr marL="0" indent="0" algn="just">
              <a:buNone/>
            </a:pPr>
            <a:r>
              <a:rPr lang="en-US" dirty="0"/>
              <a:t>Understanding variations in staff sales performance and operational efficiency across stores is essential for </a:t>
            </a:r>
            <a:r>
              <a:rPr lang="en-US" dirty="0" err="1"/>
              <a:t>optimising</a:t>
            </a:r>
            <a:r>
              <a:rPr lang="en-US" dirty="0"/>
              <a:t> workforce strategy and frontline execution. This analysis enables leadership to identify high-performing teams, uncover productivity gaps, and implement targeted training and incentive </a:t>
            </a:r>
            <a:r>
              <a:rPr lang="en-US" dirty="0" err="1"/>
              <a:t>programmes</a:t>
            </a:r>
            <a:r>
              <a:rPr lang="en-US" dirty="0"/>
              <a:t> rather than relying on generic performance management approaches. By aligning staffing models, training investment, and operational processes with performance insights, the business can enhance customer service quality, increase conversion rates, and </a:t>
            </a:r>
            <a:r>
              <a:rPr lang="en-US" dirty="0" err="1"/>
              <a:t>maximise</a:t>
            </a:r>
            <a:r>
              <a:rPr lang="en-US" dirty="0"/>
              <a:t> sales per </a:t>
            </a:r>
            <a:r>
              <a:rPr lang="en-US" dirty="0" err="1"/>
              <a:t>labour</a:t>
            </a:r>
            <a:r>
              <a:rPr lang="en-US" dirty="0"/>
              <a:t> hour.</a:t>
            </a:r>
            <a:endParaRPr lang="en-GB" noProof="0" dirty="0"/>
          </a:p>
        </p:txBody>
      </p:sp>
    </p:spTree>
    <p:extLst>
      <p:ext uri="{BB962C8B-B14F-4D97-AF65-F5344CB8AC3E}">
        <p14:creationId xmlns:p14="http://schemas.microsoft.com/office/powerpoint/2010/main" val="19384015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6A43A-30F8-60B6-253F-2EF4FCFFD29F}"/>
              </a:ext>
            </a:extLst>
          </p:cNvPr>
          <p:cNvSpPr>
            <a:spLocks noGrp="1"/>
          </p:cNvSpPr>
          <p:nvPr>
            <p:ph type="title"/>
          </p:nvPr>
        </p:nvSpPr>
        <p:spPr/>
        <p:txBody>
          <a:bodyPr/>
          <a:lstStyle/>
          <a:p>
            <a:r>
              <a:rPr lang="en-GB" dirty="0"/>
              <a:t>Staff Productivity &amp; Store Operations – output analysis interpretation</a:t>
            </a:r>
          </a:p>
        </p:txBody>
      </p:sp>
      <p:sp>
        <p:nvSpPr>
          <p:cNvPr id="3" name="Content Placeholder 2">
            <a:extLst>
              <a:ext uri="{FF2B5EF4-FFF2-40B4-BE49-F238E27FC236}">
                <a16:creationId xmlns:a16="http://schemas.microsoft.com/office/drawing/2014/main" id="{630B14C4-F9FA-863F-768F-405E9C39B2B2}"/>
              </a:ext>
            </a:extLst>
          </p:cNvPr>
          <p:cNvSpPr>
            <a:spLocks noGrp="1"/>
          </p:cNvSpPr>
          <p:nvPr>
            <p:ph idx="1"/>
          </p:nvPr>
        </p:nvSpPr>
        <p:spPr>
          <a:xfrm>
            <a:off x="1024128" y="2084832"/>
            <a:ext cx="9720073" cy="4449318"/>
          </a:xfrm>
        </p:spPr>
        <p:txBody>
          <a:bodyPr>
            <a:normAutofit fontScale="77500" lnSpcReduction="20000"/>
          </a:bodyPr>
          <a:lstStyle/>
          <a:p>
            <a:pPr marL="0" indent="0">
              <a:buNone/>
            </a:pPr>
            <a:r>
              <a:rPr lang="en-US" dirty="0"/>
              <a:t>Key Metrics:</a:t>
            </a:r>
          </a:p>
          <a:p>
            <a:pPr lvl="1">
              <a:buFont typeface="Wingdings" panose="05000000000000000000" pitchFamily="2" charset="2"/>
              <a:buChar char="Ø"/>
            </a:pPr>
            <a:r>
              <a:rPr lang="en-US" dirty="0"/>
              <a:t> </a:t>
            </a:r>
            <a:r>
              <a:rPr lang="en-GB" dirty="0"/>
              <a:t>Revenue by Sales Representative</a:t>
            </a:r>
          </a:p>
          <a:p>
            <a:pPr lvl="1">
              <a:buFont typeface="Wingdings" panose="05000000000000000000" pitchFamily="2" charset="2"/>
              <a:buChar char="Ø"/>
            </a:pPr>
            <a:r>
              <a:rPr lang="en-GB" dirty="0"/>
              <a:t> Orders per Sales Representative</a:t>
            </a:r>
          </a:p>
          <a:p>
            <a:pPr lvl="1">
              <a:buFont typeface="Wingdings" panose="05000000000000000000" pitchFamily="2" charset="2"/>
              <a:buChar char="Ø"/>
            </a:pPr>
            <a:r>
              <a:rPr lang="en-GB" dirty="0"/>
              <a:t> Revenue per Order</a:t>
            </a:r>
          </a:p>
          <a:p>
            <a:pPr lvl="1">
              <a:buFont typeface="Wingdings" panose="05000000000000000000" pitchFamily="2" charset="2"/>
              <a:buChar char="Ø"/>
            </a:pPr>
            <a:r>
              <a:rPr lang="en-GB" dirty="0"/>
              <a:t> Top &amp; Bottom Performers</a:t>
            </a:r>
            <a:endParaRPr lang="en-US" dirty="0"/>
          </a:p>
          <a:p>
            <a:pPr marL="0" indent="0">
              <a:buNone/>
            </a:pPr>
            <a:r>
              <a:rPr lang="en-US" dirty="0"/>
              <a:t>Key Insights:</a:t>
            </a:r>
          </a:p>
          <a:p>
            <a:pPr lvl="1">
              <a:buFont typeface="Wingdings" panose="05000000000000000000" pitchFamily="2" charset="2"/>
              <a:buChar char="Ø"/>
            </a:pPr>
            <a:r>
              <a:rPr lang="en-US" dirty="0"/>
              <a:t> Staff performance varies significantly across individuals and stores.</a:t>
            </a:r>
          </a:p>
          <a:p>
            <a:pPr lvl="1">
              <a:buFont typeface="Wingdings" panose="05000000000000000000" pitchFamily="2" charset="2"/>
              <a:buChar char="Ø"/>
            </a:pPr>
            <a:r>
              <a:rPr lang="en-US" dirty="0"/>
              <a:t> Top performers consistently generate higher order values and conversion rates.</a:t>
            </a:r>
          </a:p>
          <a:p>
            <a:pPr lvl="1">
              <a:buFont typeface="Wingdings" panose="05000000000000000000" pitchFamily="2" charset="2"/>
              <a:buChar char="Ø"/>
            </a:pPr>
            <a:r>
              <a:rPr lang="en-US" dirty="0"/>
              <a:t> Underperformance indicates training gaps or operational inefficiencies.</a:t>
            </a:r>
          </a:p>
          <a:p>
            <a:pPr marL="0" indent="0">
              <a:buNone/>
            </a:pPr>
            <a:r>
              <a:rPr lang="en-US" dirty="0"/>
              <a:t>Business Implications:</a:t>
            </a:r>
          </a:p>
          <a:p>
            <a:pPr lvl="1">
              <a:buFont typeface="Wingdings" panose="05000000000000000000" pitchFamily="2" charset="2"/>
              <a:buChar char="Ø"/>
            </a:pPr>
            <a:r>
              <a:rPr lang="en-US" dirty="0"/>
              <a:t> Workforce productivity is uneven, limiting overall revenue potential.</a:t>
            </a:r>
          </a:p>
          <a:p>
            <a:pPr lvl="1">
              <a:buFont typeface="Wingdings" panose="05000000000000000000" pitchFamily="2" charset="2"/>
              <a:buChar char="Ø"/>
            </a:pPr>
            <a:r>
              <a:rPr lang="en-US" dirty="0"/>
              <a:t> Inconsistent customer experience across stores.</a:t>
            </a:r>
          </a:p>
          <a:p>
            <a:pPr lvl="1">
              <a:buFont typeface="Wingdings" panose="05000000000000000000" pitchFamily="2" charset="2"/>
              <a:buChar char="Ø"/>
            </a:pPr>
            <a:r>
              <a:rPr lang="en-US" dirty="0"/>
              <a:t> Opportunity cost from suboptimal staff deployment.</a:t>
            </a:r>
          </a:p>
          <a:p>
            <a:pPr marL="0" indent="0">
              <a:buNone/>
            </a:pPr>
            <a:r>
              <a:rPr lang="en-US" dirty="0"/>
              <a:t>Recommended Strategic Actions:</a:t>
            </a:r>
          </a:p>
          <a:p>
            <a:pPr lvl="1">
              <a:buFont typeface="Wingdings" panose="05000000000000000000" pitchFamily="2" charset="2"/>
              <a:buChar char="Ø"/>
            </a:pPr>
            <a:r>
              <a:rPr lang="en-US" dirty="0"/>
              <a:t> Introduce targeted training and coaching </a:t>
            </a:r>
            <a:r>
              <a:rPr lang="en-US" dirty="0" err="1"/>
              <a:t>programmes</a:t>
            </a:r>
            <a:r>
              <a:rPr lang="en-US" dirty="0"/>
              <a:t>.</a:t>
            </a:r>
          </a:p>
          <a:p>
            <a:pPr lvl="1">
              <a:buFont typeface="Wingdings" panose="05000000000000000000" pitchFamily="2" charset="2"/>
              <a:buChar char="Ø"/>
            </a:pPr>
            <a:r>
              <a:rPr lang="en-US" dirty="0"/>
              <a:t> Redesign incentive structures to reward high performance.</a:t>
            </a:r>
          </a:p>
          <a:p>
            <a:pPr lvl="1">
              <a:buFont typeface="Wingdings" panose="05000000000000000000" pitchFamily="2" charset="2"/>
              <a:buChar char="Ø"/>
            </a:pPr>
            <a:r>
              <a:rPr lang="en-US" dirty="0"/>
              <a:t> Implement workforce planning models based on productivity metrics.</a:t>
            </a:r>
            <a:endParaRPr lang="en-GB" dirty="0"/>
          </a:p>
        </p:txBody>
      </p:sp>
    </p:spTree>
    <p:extLst>
      <p:ext uri="{BB962C8B-B14F-4D97-AF65-F5344CB8AC3E}">
        <p14:creationId xmlns:p14="http://schemas.microsoft.com/office/powerpoint/2010/main" val="40043925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60544-17CF-DF3A-902A-9C278CCA6CEC}"/>
              </a:ext>
            </a:extLst>
          </p:cNvPr>
          <p:cNvSpPr>
            <a:spLocks noGrp="1"/>
          </p:cNvSpPr>
          <p:nvPr>
            <p:ph type="title"/>
          </p:nvPr>
        </p:nvSpPr>
        <p:spPr/>
        <p:txBody>
          <a:bodyPr/>
          <a:lstStyle/>
          <a:p>
            <a:r>
              <a:rPr lang="en-GB" noProof="0" dirty="0"/>
              <a:t>Brand Portfolio Performance - importance</a:t>
            </a:r>
          </a:p>
        </p:txBody>
      </p:sp>
      <p:sp>
        <p:nvSpPr>
          <p:cNvPr id="3" name="Content Placeholder 2">
            <a:extLst>
              <a:ext uri="{FF2B5EF4-FFF2-40B4-BE49-F238E27FC236}">
                <a16:creationId xmlns:a16="http://schemas.microsoft.com/office/drawing/2014/main" id="{9131B119-A096-B056-B3BE-98612302CE2E}"/>
              </a:ext>
            </a:extLst>
          </p:cNvPr>
          <p:cNvSpPr>
            <a:spLocks noGrp="1"/>
          </p:cNvSpPr>
          <p:nvPr>
            <p:ph idx="1"/>
          </p:nvPr>
        </p:nvSpPr>
        <p:spPr/>
        <p:txBody>
          <a:bodyPr/>
          <a:lstStyle/>
          <a:p>
            <a:pPr marL="0" indent="0" algn="just">
              <a:buNone/>
            </a:pPr>
            <a:r>
              <a:rPr lang="en-US" dirty="0"/>
              <a:t>Understanding how different brands contribute to overall revenue and sales volume is critical for effective brand portfolio management and supplier strategy. This analysis enables the business to </a:t>
            </a:r>
            <a:r>
              <a:rPr lang="en-US" dirty="0" err="1"/>
              <a:t>prioritise</a:t>
            </a:r>
            <a:r>
              <a:rPr lang="en-US" dirty="0"/>
              <a:t> high-performing brands, </a:t>
            </a:r>
            <a:r>
              <a:rPr lang="en-US" dirty="0" err="1"/>
              <a:t>optimise</a:t>
            </a:r>
            <a:r>
              <a:rPr lang="en-US" dirty="0"/>
              <a:t> shelf space allocation, and guide promotional investment rather than treating all brand partnerships equally. By aligning procurement, marketing, and inventory decisions with brand performance insights, the </a:t>
            </a:r>
            <a:r>
              <a:rPr lang="en-US" dirty="0" err="1"/>
              <a:t>organisation</a:t>
            </a:r>
            <a:r>
              <a:rPr lang="en-US" dirty="0"/>
              <a:t> can strengthen supplier relationships, improve merchandising effectiveness, and </a:t>
            </a:r>
            <a:r>
              <a:rPr lang="en-US" dirty="0" err="1"/>
              <a:t>maximise</a:t>
            </a:r>
            <a:r>
              <a:rPr lang="en-US" dirty="0"/>
              <a:t> overall commercial return.</a:t>
            </a:r>
            <a:endParaRPr lang="en-GB" noProof="0" dirty="0"/>
          </a:p>
        </p:txBody>
      </p:sp>
    </p:spTree>
    <p:extLst>
      <p:ext uri="{BB962C8B-B14F-4D97-AF65-F5344CB8AC3E}">
        <p14:creationId xmlns:p14="http://schemas.microsoft.com/office/powerpoint/2010/main" val="31875595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5731C-3BAA-4901-05A6-64677D7B509B}"/>
              </a:ext>
            </a:extLst>
          </p:cNvPr>
          <p:cNvSpPr>
            <a:spLocks noGrp="1"/>
          </p:cNvSpPr>
          <p:nvPr>
            <p:ph type="title"/>
          </p:nvPr>
        </p:nvSpPr>
        <p:spPr/>
        <p:txBody>
          <a:bodyPr/>
          <a:lstStyle/>
          <a:p>
            <a:r>
              <a:rPr lang="en-GB" dirty="0"/>
              <a:t>Brand Portfolio Performance – output analysis interpretation</a:t>
            </a:r>
          </a:p>
        </p:txBody>
      </p:sp>
      <p:sp>
        <p:nvSpPr>
          <p:cNvPr id="3" name="Content Placeholder 2">
            <a:extLst>
              <a:ext uri="{FF2B5EF4-FFF2-40B4-BE49-F238E27FC236}">
                <a16:creationId xmlns:a16="http://schemas.microsoft.com/office/drawing/2014/main" id="{8BC973DC-013C-F929-C95B-42F3272B76CE}"/>
              </a:ext>
            </a:extLst>
          </p:cNvPr>
          <p:cNvSpPr>
            <a:spLocks noGrp="1"/>
          </p:cNvSpPr>
          <p:nvPr>
            <p:ph idx="1"/>
          </p:nvPr>
        </p:nvSpPr>
        <p:spPr>
          <a:xfrm>
            <a:off x="1024128" y="2084832"/>
            <a:ext cx="9720073" cy="4224528"/>
          </a:xfrm>
        </p:spPr>
        <p:txBody>
          <a:bodyPr>
            <a:normAutofit fontScale="77500" lnSpcReduction="20000"/>
          </a:bodyPr>
          <a:lstStyle/>
          <a:p>
            <a:pPr marL="0" indent="0">
              <a:buNone/>
            </a:pPr>
            <a:r>
              <a:rPr lang="en-US" dirty="0"/>
              <a:t>Key Metrics:</a:t>
            </a:r>
          </a:p>
          <a:p>
            <a:pPr lvl="1">
              <a:buFont typeface="Wingdings" panose="05000000000000000000" pitchFamily="2" charset="2"/>
              <a:buChar char="Ø"/>
            </a:pPr>
            <a:r>
              <a:rPr lang="en-US" dirty="0"/>
              <a:t> </a:t>
            </a:r>
            <a:r>
              <a:rPr lang="en-GB" dirty="0"/>
              <a:t>Revenue by Brand</a:t>
            </a:r>
          </a:p>
          <a:p>
            <a:pPr lvl="1">
              <a:buFont typeface="Wingdings" panose="05000000000000000000" pitchFamily="2" charset="2"/>
              <a:buChar char="Ø"/>
            </a:pPr>
            <a:r>
              <a:rPr lang="en-GB" dirty="0"/>
              <a:t> Units Sold by Brand</a:t>
            </a:r>
          </a:p>
          <a:p>
            <a:pPr lvl="1">
              <a:buFont typeface="Wingdings" panose="05000000000000000000" pitchFamily="2" charset="2"/>
              <a:buChar char="Ø"/>
            </a:pPr>
            <a:r>
              <a:rPr lang="en-GB" dirty="0"/>
              <a:t> </a:t>
            </a:r>
            <a:r>
              <a:rPr lang="en-US" dirty="0"/>
              <a:t>Average Selling Price by Brand (ASP)</a:t>
            </a:r>
          </a:p>
          <a:p>
            <a:pPr marL="0" indent="0">
              <a:buNone/>
            </a:pPr>
            <a:r>
              <a:rPr lang="en-US" dirty="0"/>
              <a:t>Key Insights:</a:t>
            </a:r>
          </a:p>
          <a:p>
            <a:pPr lvl="1">
              <a:buFont typeface="Wingdings" panose="05000000000000000000" pitchFamily="2" charset="2"/>
              <a:buChar char="Ø"/>
            </a:pPr>
            <a:r>
              <a:rPr lang="en-US" dirty="0"/>
              <a:t> Brand revenue concentration indicates reliance on a limited number of suppliers.</a:t>
            </a:r>
          </a:p>
          <a:p>
            <a:pPr lvl="1">
              <a:buFont typeface="Wingdings" panose="05000000000000000000" pitchFamily="2" charset="2"/>
              <a:buChar char="Ø"/>
            </a:pPr>
            <a:r>
              <a:rPr lang="en-US" dirty="0"/>
              <a:t> Some brands generate high volume but lower profitability.</a:t>
            </a:r>
          </a:p>
          <a:p>
            <a:pPr lvl="1">
              <a:buFont typeface="Wingdings" panose="05000000000000000000" pitchFamily="2" charset="2"/>
              <a:buChar char="Ø"/>
            </a:pPr>
            <a:r>
              <a:rPr lang="en-US" dirty="0"/>
              <a:t> ASP variation suggests pricing and positioning opportunities.</a:t>
            </a:r>
          </a:p>
          <a:p>
            <a:pPr marL="0" indent="0">
              <a:buNone/>
            </a:pPr>
            <a:r>
              <a:rPr lang="en-US" dirty="0"/>
              <a:t>Business Implications:</a:t>
            </a:r>
          </a:p>
          <a:p>
            <a:pPr lvl="1">
              <a:buFont typeface="Wingdings" panose="05000000000000000000" pitchFamily="2" charset="2"/>
              <a:buChar char="Ø"/>
            </a:pPr>
            <a:r>
              <a:rPr lang="en-US" dirty="0"/>
              <a:t> Supplier dependency introduces operational and commercial risk.</a:t>
            </a:r>
          </a:p>
          <a:p>
            <a:pPr lvl="1">
              <a:buFont typeface="Wingdings" panose="05000000000000000000" pitchFamily="2" charset="2"/>
              <a:buChar char="Ø"/>
            </a:pPr>
            <a:r>
              <a:rPr lang="en-US" dirty="0"/>
              <a:t> Negotiation leverage varies across brands.</a:t>
            </a:r>
          </a:p>
          <a:p>
            <a:pPr lvl="1">
              <a:buFont typeface="Wingdings" panose="05000000000000000000" pitchFamily="2" charset="2"/>
              <a:buChar char="Ø"/>
            </a:pPr>
            <a:r>
              <a:rPr lang="en-US" dirty="0"/>
              <a:t> </a:t>
            </a:r>
            <a:r>
              <a:rPr lang="en-GB" dirty="0"/>
              <a:t>Portfolio optimisation opportunities exist.</a:t>
            </a:r>
            <a:endParaRPr lang="en-US" dirty="0"/>
          </a:p>
          <a:p>
            <a:pPr marL="0" indent="0">
              <a:buNone/>
            </a:pPr>
            <a:r>
              <a:rPr lang="en-US" dirty="0"/>
              <a:t>Recommended Strategic Actions:</a:t>
            </a:r>
          </a:p>
          <a:p>
            <a:pPr lvl="1">
              <a:buFont typeface="Wingdings" panose="05000000000000000000" pitchFamily="2" charset="2"/>
              <a:buChar char="Ø"/>
            </a:pPr>
            <a:r>
              <a:rPr lang="en-US" dirty="0"/>
              <a:t> Strengthen partnerships with high-performing brands.</a:t>
            </a:r>
          </a:p>
          <a:p>
            <a:pPr lvl="1">
              <a:buFont typeface="Wingdings" panose="05000000000000000000" pitchFamily="2" charset="2"/>
              <a:buChar char="Ø"/>
            </a:pPr>
            <a:r>
              <a:rPr lang="en-US" dirty="0"/>
              <a:t> Renegotiate commercial terms with key suppliers.</a:t>
            </a:r>
          </a:p>
          <a:p>
            <a:pPr lvl="1">
              <a:buFont typeface="Wingdings" panose="05000000000000000000" pitchFamily="2" charset="2"/>
              <a:buChar char="Ø"/>
            </a:pPr>
            <a:r>
              <a:rPr lang="en-GB" dirty="0"/>
              <a:t> </a:t>
            </a:r>
            <a:r>
              <a:rPr lang="en-US" dirty="0"/>
              <a:t>Rebalance brand portfolio toward higher-margin suppliers.</a:t>
            </a:r>
            <a:endParaRPr lang="en-GB" dirty="0"/>
          </a:p>
        </p:txBody>
      </p:sp>
    </p:spTree>
    <p:extLst>
      <p:ext uri="{BB962C8B-B14F-4D97-AF65-F5344CB8AC3E}">
        <p14:creationId xmlns:p14="http://schemas.microsoft.com/office/powerpoint/2010/main" val="34416570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4265A-D697-3579-E675-9EB912FC4D03}"/>
              </a:ext>
            </a:extLst>
          </p:cNvPr>
          <p:cNvSpPr>
            <a:spLocks noGrp="1"/>
          </p:cNvSpPr>
          <p:nvPr>
            <p:ph type="title"/>
          </p:nvPr>
        </p:nvSpPr>
        <p:spPr/>
        <p:txBody>
          <a:bodyPr/>
          <a:lstStyle/>
          <a:p>
            <a:r>
              <a:rPr lang="en-GB" noProof="0" dirty="0"/>
              <a:t>Pricing &amp; Discount Strategy - significance</a:t>
            </a:r>
          </a:p>
        </p:txBody>
      </p:sp>
      <p:sp>
        <p:nvSpPr>
          <p:cNvPr id="3" name="Content Placeholder 2">
            <a:extLst>
              <a:ext uri="{FF2B5EF4-FFF2-40B4-BE49-F238E27FC236}">
                <a16:creationId xmlns:a16="http://schemas.microsoft.com/office/drawing/2014/main" id="{8DC63286-B2D9-8FD7-E54A-0E7A7E7C86CD}"/>
              </a:ext>
            </a:extLst>
          </p:cNvPr>
          <p:cNvSpPr>
            <a:spLocks noGrp="1"/>
          </p:cNvSpPr>
          <p:nvPr>
            <p:ph idx="1"/>
          </p:nvPr>
        </p:nvSpPr>
        <p:spPr/>
        <p:txBody>
          <a:bodyPr/>
          <a:lstStyle/>
          <a:p>
            <a:pPr marL="0" indent="0" algn="just">
              <a:buNone/>
            </a:pPr>
            <a:r>
              <a:rPr lang="en-US" dirty="0"/>
              <a:t>Understanding how different discount levels impact sales volume and revenue is essential for developing data-driven pricing and promotional strategies. This analysis enables the business to identify optimal discount ranges that stimulate demand while preserving margin, rather than relying on intuition-driven or uniform discounting policies. By aligning promotional depth, timing, and product selection with empirical performance data, the </a:t>
            </a:r>
            <a:r>
              <a:rPr lang="en-US" dirty="0" err="1"/>
              <a:t>organisation</a:t>
            </a:r>
            <a:r>
              <a:rPr lang="en-US" dirty="0"/>
              <a:t> can improve return on promotional spend, enhance price perception, and drive profitable growth.</a:t>
            </a:r>
            <a:endParaRPr lang="en-GB" noProof="0" dirty="0"/>
          </a:p>
        </p:txBody>
      </p:sp>
    </p:spTree>
    <p:extLst>
      <p:ext uri="{BB962C8B-B14F-4D97-AF65-F5344CB8AC3E}">
        <p14:creationId xmlns:p14="http://schemas.microsoft.com/office/powerpoint/2010/main" val="23657202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244CA-7FFC-C1C5-2EDB-ED8E2CCE6BFD}"/>
              </a:ext>
            </a:extLst>
          </p:cNvPr>
          <p:cNvSpPr>
            <a:spLocks noGrp="1"/>
          </p:cNvSpPr>
          <p:nvPr>
            <p:ph type="title"/>
          </p:nvPr>
        </p:nvSpPr>
        <p:spPr/>
        <p:txBody>
          <a:bodyPr/>
          <a:lstStyle/>
          <a:p>
            <a:r>
              <a:rPr lang="en-GB" dirty="0"/>
              <a:t>Pricing &amp; Discount Strategy – output analysis interpretation</a:t>
            </a:r>
          </a:p>
        </p:txBody>
      </p:sp>
      <p:sp>
        <p:nvSpPr>
          <p:cNvPr id="3" name="Content Placeholder 2">
            <a:extLst>
              <a:ext uri="{FF2B5EF4-FFF2-40B4-BE49-F238E27FC236}">
                <a16:creationId xmlns:a16="http://schemas.microsoft.com/office/drawing/2014/main" id="{094CE03A-94EA-1F9D-701B-CA25F975A9F7}"/>
              </a:ext>
            </a:extLst>
          </p:cNvPr>
          <p:cNvSpPr>
            <a:spLocks noGrp="1"/>
          </p:cNvSpPr>
          <p:nvPr>
            <p:ph idx="1"/>
          </p:nvPr>
        </p:nvSpPr>
        <p:spPr>
          <a:xfrm>
            <a:off x="1024128" y="2084832"/>
            <a:ext cx="9720073" cy="4224528"/>
          </a:xfrm>
        </p:spPr>
        <p:txBody>
          <a:bodyPr>
            <a:normAutofit fontScale="77500" lnSpcReduction="20000"/>
          </a:bodyPr>
          <a:lstStyle/>
          <a:p>
            <a:pPr marL="0" indent="0">
              <a:buNone/>
            </a:pPr>
            <a:r>
              <a:rPr lang="en-US" dirty="0"/>
              <a:t>Key Metrics:</a:t>
            </a:r>
          </a:p>
          <a:p>
            <a:pPr lvl="1">
              <a:buFont typeface="Wingdings" panose="05000000000000000000" pitchFamily="2" charset="2"/>
              <a:buChar char="Ø"/>
            </a:pPr>
            <a:r>
              <a:rPr lang="en-US" dirty="0"/>
              <a:t> </a:t>
            </a:r>
            <a:r>
              <a:rPr lang="en-GB" dirty="0"/>
              <a:t>Revenue by Discount Band</a:t>
            </a:r>
          </a:p>
          <a:p>
            <a:pPr lvl="1">
              <a:buFont typeface="Wingdings" panose="05000000000000000000" pitchFamily="2" charset="2"/>
              <a:buChar char="Ø"/>
            </a:pPr>
            <a:r>
              <a:rPr lang="en-GB" dirty="0"/>
              <a:t> </a:t>
            </a:r>
            <a:r>
              <a:rPr lang="en-US" dirty="0"/>
              <a:t>Units Sold by Discount Band</a:t>
            </a:r>
          </a:p>
          <a:p>
            <a:pPr lvl="1">
              <a:buFont typeface="Wingdings" panose="05000000000000000000" pitchFamily="2" charset="2"/>
              <a:buChar char="Ø"/>
            </a:pPr>
            <a:r>
              <a:rPr lang="en-US" dirty="0"/>
              <a:t> </a:t>
            </a:r>
            <a:r>
              <a:rPr lang="en-GB" dirty="0"/>
              <a:t>Revenue Retention %</a:t>
            </a:r>
            <a:endParaRPr lang="en-US" dirty="0"/>
          </a:p>
          <a:p>
            <a:pPr marL="0" indent="0">
              <a:buNone/>
            </a:pPr>
            <a:r>
              <a:rPr lang="en-GB" dirty="0"/>
              <a:t>Key Insights:</a:t>
            </a:r>
          </a:p>
          <a:p>
            <a:pPr lvl="1">
              <a:buFont typeface="Wingdings" panose="05000000000000000000" pitchFamily="2" charset="2"/>
              <a:buChar char="Ø"/>
            </a:pPr>
            <a:r>
              <a:rPr lang="en-GB" dirty="0"/>
              <a:t> </a:t>
            </a:r>
            <a:r>
              <a:rPr lang="en-US" dirty="0"/>
              <a:t>Moderate discount levels often generate optimal revenue and volume balance.</a:t>
            </a:r>
          </a:p>
          <a:p>
            <a:pPr lvl="1">
              <a:buFont typeface="Wingdings" panose="05000000000000000000" pitchFamily="2" charset="2"/>
              <a:buChar char="Ø"/>
            </a:pPr>
            <a:r>
              <a:rPr lang="en-US" dirty="0"/>
              <a:t> Deep discounting significantly erodes revenue retention.</a:t>
            </a:r>
          </a:p>
          <a:p>
            <a:pPr lvl="1">
              <a:buFont typeface="Wingdings" panose="05000000000000000000" pitchFamily="2" charset="2"/>
              <a:buChar char="Ø"/>
            </a:pPr>
            <a:r>
              <a:rPr lang="en-US" dirty="0"/>
              <a:t> Zero or low discount levels may suppress demand.</a:t>
            </a:r>
            <a:endParaRPr lang="en-GB" dirty="0"/>
          </a:p>
          <a:p>
            <a:pPr marL="0" indent="0">
              <a:buNone/>
            </a:pPr>
            <a:r>
              <a:rPr lang="en-GB" dirty="0"/>
              <a:t>Business Implications:</a:t>
            </a:r>
          </a:p>
          <a:p>
            <a:pPr lvl="1">
              <a:buFont typeface="Wingdings" panose="05000000000000000000" pitchFamily="2" charset="2"/>
              <a:buChar char="Ø"/>
            </a:pPr>
            <a:r>
              <a:rPr lang="en-GB" dirty="0"/>
              <a:t> Over-discounting directly reduces profitability.</a:t>
            </a:r>
          </a:p>
          <a:p>
            <a:pPr lvl="1">
              <a:buFont typeface="Wingdings" panose="05000000000000000000" pitchFamily="2" charset="2"/>
              <a:buChar char="Ø"/>
            </a:pPr>
            <a:r>
              <a:rPr lang="en-GB" dirty="0"/>
              <a:t> </a:t>
            </a:r>
            <a:r>
              <a:rPr lang="en-US" dirty="0"/>
              <a:t>Promotional spend may not be delivering optimal Return of Investment (ROI).</a:t>
            </a:r>
          </a:p>
          <a:p>
            <a:pPr lvl="1">
              <a:buFont typeface="Wingdings" panose="05000000000000000000" pitchFamily="2" charset="2"/>
              <a:buChar char="Ø"/>
            </a:pPr>
            <a:r>
              <a:rPr lang="en-GB" dirty="0"/>
              <a:t> </a:t>
            </a:r>
            <a:r>
              <a:rPr lang="en-US" dirty="0"/>
              <a:t>Margin leakage risks undermining financial performance.</a:t>
            </a:r>
            <a:endParaRPr lang="en-GB" dirty="0"/>
          </a:p>
          <a:p>
            <a:pPr marL="0" indent="0">
              <a:buNone/>
            </a:pPr>
            <a:r>
              <a:rPr lang="en-GB" dirty="0"/>
              <a:t>Recommended Strategic Actions:</a:t>
            </a:r>
          </a:p>
          <a:p>
            <a:pPr lvl="1">
              <a:buFont typeface="Wingdings" panose="05000000000000000000" pitchFamily="2" charset="2"/>
              <a:buChar char="Ø"/>
            </a:pPr>
            <a:r>
              <a:rPr lang="en-GB" dirty="0"/>
              <a:t> </a:t>
            </a:r>
            <a:r>
              <a:rPr lang="en-US" dirty="0"/>
              <a:t>Establish discount guardrails based on performance bands.</a:t>
            </a:r>
          </a:p>
          <a:p>
            <a:pPr lvl="1">
              <a:buFont typeface="Wingdings" panose="05000000000000000000" pitchFamily="2" charset="2"/>
              <a:buChar char="Ø"/>
            </a:pPr>
            <a:r>
              <a:rPr lang="en-US" dirty="0"/>
              <a:t> </a:t>
            </a:r>
            <a:r>
              <a:rPr lang="en-GB" dirty="0"/>
              <a:t>Prioritise mid-range discount strategies.</a:t>
            </a:r>
          </a:p>
          <a:p>
            <a:pPr lvl="1">
              <a:buFont typeface="Wingdings" panose="05000000000000000000" pitchFamily="2" charset="2"/>
              <a:buChar char="Ø"/>
            </a:pPr>
            <a:r>
              <a:rPr lang="en-GB" dirty="0"/>
              <a:t> </a:t>
            </a:r>
            <a:r>
              <a:rPr lang="en-US" dirty="0"/>
              <a:t>Monitor promotional ROI at product and category levels.</a:t>
            </a:r>
            <a:endParaRPr lang="en-GB" dirty="0"/>
          </a:p>
          <a:p>
            <a:pPr marL="0" indent="0">
              <a:buNone/>
            </a:pPr>
            <a:endParaRPr lang="en-GB" dirty="0"/>
          </a:p>
        </p:txBody>
      </p:sp>
    </p:spTree>
    <p:extLst>
      <p:ext uri="{BB962C8B-B14F-4D97-AF65-F5344CB8AC3E}">
        <p14:creationId xmlns:p14="http://schemas.microsoft.com/office/powerpoint/2010/main" val="41878881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8A17A-6CBD-7908-EEB8-38F4CC1161F1}"/>
              </a:ext>
            </a:extLst>
          </p:cNvPr>
          <p:cNvSpPr>
            <a:spLocks noGrp="1"/>
          </p:cNvSpPr>
          <p:nvPr>
            <p:ph type="title"/>
          </p:nvPr>
        </p:nvSpPr>
        <p:spPr/>
        <p:txBody>
          <a:bodyPr/>
          <a:lstStyle/>
          <a:p>
            <a:r>
              <a:rPr lang="en-GB" noProof="0" dirty="0"/>
              <a:t>Leadership &amp; Management Effectiveness - relevance</a:t>
            </a:r>
          </a:p>
        </p:txBody>
      </p:sp>
      <p:sp>
        <p:nvSpPr>
          <p:cNvPr id="3" name="Content Placeholder 2">
            <a:extLst>
              <a:ext uri="{FF2B5EF4-FFF2-40B4-BE49-F238E27FC236}">
                <a16:creationId xmlns:a16="http://schemas.microsoft.com/office/drawing/2014/main" id="{D0A8F2C0-B84D-99B7-0A83-005929ACF272}"/>
              </a:ext>
            </a:extLst>
          </p:cNvPr>
          <p:cNvSpPr>
            <a:spLocks noGrp="1"/>
          </p:cNvSpPr>
          <p:nvPr>
            <p:ph idx="1"/>
          </p:nvPr>
        </p:nvSpPr>
        <p:spPr/>
        <p:txBody>
          <a:bodyPr/>
          <a:lstStyle/>
          <a:p>
            <a:pPr marL="0" indent="0" algn="just">
              <a:buNone/>
            </a:pPr>
            <a:r>
              <a:rPr lang="en-US" dirty="0"/>
              <a:t>Understanding how store performance varies by manager is essential for evaluating leadership effectiveness and operational execution across the retail network. This analysis enables the business to identify best-practice management approaches, detect capability gaps, and tailor leadership development </a:t>
            </a:r>
            <a:r>
              <a:rPr lang="en-US" dirty="0" err="1"/>
              <a:t>programmes</a:t>
            </a:r>
            <a:r>
              <a:rPr lang="en-US" dirty="0"/>
              <a:t> rather than applying generic management training. By aligning coaching, performance management, and succession planning with operational outcomes, the </a:t>
            </a:r>
            <a:r>
              <a:rPr lang="en-US" dirty="0" err="1"/>
              <a:t>organisation</a:t>
            </a:r>
            <a:r>
              <a:rPr lang="en-US" dirty="0"/>
              <a:t> can strengthen management capability, improve store execution, and drive consistent performance across locations.</a:t>
            </a:r>
            <a:endParaRPr lang="en-GB" noProof="0" dirty="0"/>
          </a:p>
        </p:txBody>
      </p:sp>
    </p:spTree>
    <p:extLst>
      <p:ext uri="{BB962C8B-B14F-4D97-AF65-F5344CB8AC3E}">
        <p14:creationId xmlns:p14="http://schemas.microsoft.com/office/powerpoint/2010/main" val="831109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1EB09-F57B-5609-9247-B84CD77830A8}"/>
              </a:ext>
            </a:extLst>
          </p:cNvPr>
          <p:cNvSpPr>
            <a:spLocks noGrp="1"/>
          </p:cNvSpPr>
          <p:nvPr>
            <p:ph type="title"/>
          </p:nvPr>
        </p:nvSpPr>
        <p:spPr/>
        <p:txBody>
          <a:bodyPr/>
          <a:lstStyle/>
          <a:p>
            <a:r>
              <a:rPr lang="en-GB" dirty="0"/>
              <a:t>Leadership &amp; Management Effectiveness – output analysis interpretation</a:t>
            </a:r>
          </a:p>
        </p:txBody>
      </p:sp>
      <p:sp>
        <p:nvSpPr>
          <p:cNvPr id="3" name="Content Placeholder 2">
            <a:extLst>
              <a:ext uri="{FF2B5EF4-FFF2-40B4-BE49-F238E27FC236}">
                <a16:creationId xmlns:a16="http://schemas.microsoft.com/office/drawing/2014/main" id="{5E0CAA83-A85C-B13E-F815-944A56F9A14A}"/>
              </a:ext>
            </a:extLst>
          </p:cNvPr>
          <p:cNvSpPr>
            <a:spLocks noGrp="1"/>
          </p:cNvSpPr>
          <p:nvPr>
            <p:ph idx="1"/>
          </p:nvPr>
        </p:nvSpPr>
        <p:spPr>
          <a:xfrm>
            <a:off x="1024128" y="2084832"/>
            <a:ext cx="9720073" cy="4224528"/>
          </a:xfrm>
        </p:spPr>
        <p:txBody>
          <a:bodyPr>
            <a:normAutofit fontScale="77500" lnSpcReduction="20000"/>
          </a:bodyPr>
          <a:lstStyle/>
          <a:p>
            <a:pPr marL="0" indent="0">
              <a:buNone/>
            </a:pPr>
            <a:r>
              <a:rPr lang="en-US" dirty="0"/>
              <a:t>Key Metrics:</a:t>
            </a:r>
          </a:p>
          <a:p>
            <a:pPr lvl="1">
              <a:buFont typeface="Wingdings" panose="05000000000000000000" pitchFamily="2" charset="2"/>
              <a:buChar char="Ø"/>
            </a:pPr>
            <a:r>
              <a:rPr lang="en-US" dirty="0"/>
              <a:t> </a:t>
            </a:r>
            <a:r>
              <a:rPr lang="en-GB" dirty="0"/>
              <a:t>Revenue by Manager</a:t>
            </a:r>
          </a:p>
          <a:p>
            <a:pPr lvl="1">
              <a:buFont typeface="Wingdings" panose="05000000000000000000" pitchFamily="2" charset="2"/>
              <a:buChar char="Ø"/>
            </a:pPr>
            <a:r>
              <a:rPr lang="en-GB" dirty="0"/>
              <a:t> Orders per Manager</a:t>
            </a:r>
          </a:p>
          <a:p>
            <a:pPr lvl="1">
              <a:buFont typeface="Wingdings" panose="05000000000000000000" pitchFamily="2" charset="2"/>
              <a:buChar char="Ø"/>
            </a:pPr>
            <a:r>
              <a:rPr lang="en-GB" dirty="0"/>
              <a:t> Staff Productivity per Manager</a:t>
            </a:r>
            <a:endParaRPr lang="en-US" dirty="0"/>
          </a:p>
          <a:p>
            <a:pPr marL="0" indent="0">
              <a:buNone/>
            </a:pPr>
            <a:r>
              <a:rPr lang="en-US" dirty="0"/>
              <a:t>Key Insights:</a:t>
            </a:r>
          </a:p>
          <a:p>
            <a:pPr lvl="1">
              <a:buFont typeface="Wingdings" panose="05000000000000000000" pitchFamily="2" charset="2"/>
              <a:buChar char="Ø"/>
            </a:pPr>
            <a:r>
              <a:rPr lang="en-US" dirty="0"/>
              <a:t> Leadership effectiveness has a measurable impact on store performance.</a:t>
            </a:r>
          </a:p>
          <a:p>
            <a:pPr lvl="1">
              <a:buFont typeface="Wingdings" panose="05000000000000000000" pitchFamily="2" charset="2"/>
              <a:buChar char="Ø"/>
            </a:pPr>
            <a:r>
              <a:rPr lang="en-US" dirty="0"/>
              <a:t> Some managers consistently outperform peers across all Key Performance Indicators (KPI).</a:t>
            </a:r>
          </a:p>
          <a:p>
            <a:pPr lvl="1">
              <a:buFont typeface="Wingdings" panose="05000000000000000000" pitchFamily="2" charset="2"/>
              <a:buChar char="Ø"/>
            </a:pPr>
            <a:r>
              <a:rPr lang="en-US" dirty="0"/>
              <a:t> Variability highlights differences in leadership capability and execution.</a:t>
            </a:r>
          </a:p>
          <a:p>
            <a:pPr marL="0" indent="0">
              <a:buNone/>
            </a:pPr>
            <a:r>
              <a:rPr lang="en-US" dirty="0"/>
              <a:t>Business Implications:</a:t>
            </a:r>
          </a:p>
          <a:p>
            <a:pPr lvl="1">
              <a:buFont typeface="Wingdings" panose="05000000000000000000" pitchFamily="2" charset="2"/>
              <a:buChar char="Ø"/>
            </a:pPr>
            <a:r>
              <a:rPr lang="en-US" dirty="0"/>
              <a:t> Management quality is a key driver of operational success.</a:t>
            </a:r>
          </a:p>
          <a:p>
            <a:pPr lvl="1">
              <a:buFont typeface="Wingdings" panose="05000000000000000000" pitchFamily="2" charset="2"/>
              <a:buChar char="Ø"/>
            </a:pPr>
            <a:r>
              <a:rPr lang="en-US" dirty="0"/>
              <a:t> High-performing leaders represent future leadership pipeline.</a:t>
            </a:r>
          </a:p>
          <a:p>
            <a:pPr lvl="1">
              <a:buFont typeface="Wingdings" panose="05000000000000000000" pitchFamily="2" charset="2"/>
              <a:buChar char="Ø"/>
            </a:pPr>
            <a:r>
              <a:rPr lang="en-US" dirty="0"/>
              <a:t> Underperforming leadership constrains business growth.</a:t>
            </a:r>
          </a:p>
          <a:p>
            <a:pPr marL="0" indent="0">
              <a:buNone/>
            </a:pPr>
            <a:r>
              <a:rPr lang="en-US" dirty="0"/>
              <a:t>Recommended Strategic Actions:</a:t>
            </a:r>
          </a:p>
          <a:p>
            <a:pPr lvl="1">
              <a:buFont typeface="Wingdings" panose="05000000000000000000" pitchFamily="2" charset="2"/>
              <a:buChar char="Ø"/>
            </a:pPr>
            <a:r>
              <a:rPr lang="en-US" dirty="0"/>
              <a:t> Implement leadership development and mentoring </a:t>
            </a:r>
            <a:r>
              <a:rPr lang="en-US" dirty="0" err="1"/>
              <a:t>programmes</a:t>
            </a:r>
            <a:r>
              <a:rPr lang="en-US" dirty="0"/>
              <a:t>.</a:t>
            </a:r>
          </a:p>
          <a:p>
            <a:pPr lvl="1">
              <a:buFont typeface="Wingdings" panose="05000000000000000000" pitchFamily="2" charset="2"/>
              <a:buChar char="Ø"/>
            </a:pPr>
            <a:r>
              <a:rPr lang="en-US" dirty="0"/>
              <a:t> Reward top-performing managers with succession opportunities.</a:t>
            </a:r>
          </a:p>
          <a:p>
            <a:pPr lvl="1">
              <a:buFont typeface="Wingdings" panose="05000000000000000000" pitchFamily="2" charset="2"/>
              <a:buChar char="Ø"/>
            </a:pPr>
            <a:r>
              <a:rPr lang="en-GB" dirty="0"/>
              <a:t> </a:t>
            </a:r>
            <a:r>
              <a:rPr lang="en-US" dirty="0"/>
              <a:t>Address capability gaps through targeted coaching.</a:t>
            </a:r>
            <a:endParaRPr lang="en-GB" dirty="0"/>
          </a:p>
        </p:txBody>
      </p:sp>
    </p:spTree>
    <p:extLst>
      <p:ext uri="{BB962C8B-B14F-4D97-AF65-F5344CB8AC3E}">
        <p14:creationId xmlns:p14="http://schemas.microsoft.com/office/powerpoint/2010/main" val="2917879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CDAF2-4B13-FB21-684E-A5D7D4B2B3AE}"/>
              </a:ext>
            </a:extLst>
          </p:cNvPr>
          <p:cNvSpPr>
            <a:spLocks noGrp="1"/>
          </p:cNvSpPr>
          <p:nvPr>
            <p:ph type="title"/>
          </p:nvPr>
        </p:nvSpPr>
        <p:spPr/>
        <p:txBody>
          <a:bodyPr/>
          <a:lstStyle/>
          <a:p>
            <a:r>
              <a:rPr lang="en-GB" noProof="0" dirty="0"/>
              <a:t>Geographic Growth &amp; Market Expansion - importance</a:t>
            </a:r>
          </a:p>
        </p:txBody>
      </p:sp>
      <p:sp>
        <p:nvSpPr>
          <p:cNvPr id="3" name="Content Placeholder 2">
            <a:extLst>
              <a:ext uri="{FF2B5EF4-FFF2-40B4-BE49-F238E27FC236}">
                <a16:creationId xmlns:a16="http://schemas.microsoft.com/office/drawing/2014/main" id="{9C01B1F7-6643-7D75-060C-C970C5C3C478}"/>
              </a:ext>
            </a:extLst>
          </p:cNvPr>
          <p:cNvSpPr>
            <a:spLocks noGrp="1"/>
          </p:cNvSpPr>
          <p:nvPr>
            <p:ph idx="1"/>
          </p:nvPr>
        </p:nvSpPr>
        <p:spPr/>
        <p:txBody>
          <a:bodyPr/>
          <a:lstStyle/>
          <a:p>
            <a:pPr marL="0" indent="0" algn="just">
              <a:buNone/>
            </a:pPr>
            <a:r>
              <a:rPr lang="en-US" dirty="0"/>
              <a:t>Understanding how revenue performance varies across cities, states, and regions is fundamental for guiding geographic expansion and market investment strategies. This analysis enables leadership to identify high-growth markets, uncover untapped demand clusters, and </a:t>
            </a:r>
            <a:r>
              <a:rPr lang="en-US" dirty="0" err="1"/>
              <a:t>prioritise</a:t>
            </a:r>
            <a:r>
              <a:rPr lang="en-US" dirty="0"/>
              <a:t> expansion opportunities rather than pursuing uniform market development. By aligning real estate planning, store rollout strategies, and regional marketing investment with geographic performance insights, the </a:t>
            </a:r>
            <a:r>
              <a:rPr lang="en-US" dirty="0" err="1"/>
              <a:t>organisation</a:t>
            </a:r>
            <a:r>
              <a:rPr lang="en-US" dirty="0"/>
              <a:t> can </a:t>
            </a:r>
            <a:r>
              <a:rPr lang="en-US" dirty="0" err="1"/>
              <a:t>maximise</a:t>
            </a:r>
            <a:r>
              <a:rPr lang="en-US" dirty="0"/>
              <a:t> market penetration, reduce expansion risk, and drive scalable growth.</a:t>
            </a:r>
            <a:endParaRPr lang="en-GB" noProof="0" dirty="0"/>
          </a:p>
        </p:txBody>
      </p:sp>
    </p:spTree>
    <p:extLst>
      <p:ext uri="{BB962C8B-B14F-4D97-AF65-F5344CB8AC3E}">
        <p14:creationId xmlns:p14="http://schemas.microsoft.com/office/powerpoint/2010/main" val="14524867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0A8CB-D93C-6EEB-A7E0-F7BDC786ADE3}"/>
              </a:ext>
            </a:extLst>
          </p:cNvPr>
          <p:cNvSpPr>
            <a:spLocks noGrp="1"/>
          </p:cNvSpPr>
          <p:nvPr>
            <p:ph type="title"/>
          </p:nvPr>
        </p:nvSpPr>
        <p:spPr/>
        <p:txBody>
          <a:bodyPr/>
          <a:lstStyle/>
          <a:p>
            <a:r>
              <a:rPr lang="en-GB" dirty="0"/>
              <a:t>Geographic Growth &amp; Market Expansion – output analysis interpretation</a:t>
            </a:r>
          </a:p>
        </p:txBody>
      </p:sp>
      <p:sp>
        <p:nvSpPr>
          <p:cNvPr id="3" name="Content Placeholder 2">
            <a:extLst>
              <a:ext uri="{FF2B5EF4-FFF2-40B4-BE49-F238E27FC236}">
                <a16:creationId xmlns:a16="http://schemas.microsoft.com/office/drawing/2014/main" id="{9B259110-5E48-E957-6750-1A712659983D}"/>
              </a:ext>
            </a:extLst>
          </p:cNvPr>
          <p:cNvSpPr>
            <a:spLocks noGrp="1"/>
          </p:cNvSpPr>
          <p:nvPr>
            <p:ph idx="1"/>
          </p:nvPr>
        </p:nvSpPr>
        <p:spPr/>
        <p:txBody>
          <a:bodyPr>
            <a:normAutofit fontScale="70000" lnSpcReduction="20000"/>
          </a:bodyPr>
          <a:lstStyle/>
          <a:p>
            <a:pPr marL="0" indent="0">
              <a:buNone/>
            </a:pPr>
            <a:r>
              <a:rPr lang="en-US" dirty="0"/>
              <a:t>Key Metrics:</a:t>
            </a:r>
          </a:p>
          <a:p>
            <a:pPr lvl="1">
              <a:buFont typeface="Wingdings" panose="05000000000000000000" pitchFamily="2" charset="2"/>
              <a:buChar char="Ø"/>
            </a:pPr>
            <a:r>
              <a:rPr lang="en-US" dirty="0"/>
              <a:t> </a:t>
            </a:r>
            <a:r>
              <a:rPr lang="en-GB" dirty="0"/>
              <a:t>Revenue by State</a:t>
            </a:r>
          </a:p>
          <a:p>
            <a:pPr lvl="1">
              <a:buFont typeface="Wingdings" panose="05000000000000000000" pitchFamily="2" charset="2"/>
              <a:buChar char="Ø"/>
            </a:pPr>
            <a:r>
              <a:rPr lang="en-GB" dirty="0"/>
              <a:t> Revenue by City</a:t>
            </a:r>
          </a:p>
          <a:p>
            <a:pPr lvl="1">
              <a:buFont typeface="Wingdings" panose="05000000000000000000" pitchFamily="2" charset="2"/>
              <a:buChar char="Ø"/>
            </a:pPr>
            <a:r>
              <a:rPr lang="en-GB" dirty="0"/>
              <a:t> Orders by Zip Code</a:t>
            </a:r>
            <a:endParaRPr lang="en-US" dirty="0"/>
          </a:p>
          <a:p>
            <a:pPr marL="0" indent="0">
              <a:buNone/>
            </a:pPr>
            <a:r>
              <a:rPr lang="en-US" dirty="0"/>
              <a:t>Key Insights:</a:t>
            </a:r>
          </a:p>
          <a:p>
            <a:pPr lvl="1">
              <a:buFont typeface="Wingdings" panose="05000000000000000000" pitchFamily="2" charset="2"/>
              <a:buChar char="Ø"/>
            </a:pPr>
            <a:r>
              <a:rPr lang="en-US" dirty="0"/>
              <a:t> </a:t>
            </a:r>
            <a:r>
              <a:rPr lang="en-GB" dirty="0"/>
              <a:t>Clear geographic revenue concentration exists.</a:t>
            </a:r>
          </a:p>
          <a:p>
            <a:pPr lvl="1">
              <a:buFont typeface="Wingdings" panose="05000000000000000000" pitchFamily="2" charset="2"/>
              <a:buChar char="Ø"/>
            </a:pPr>
            <a:r>
              <a:rPr lang="en-GB" dirty="0"/>
              <a:t> </a:t>
            </a:r>
            <a:r>
              <a:rPr lang="en-US" dirty="0"/>
              <a:t>Certain cities and states significantly outperform others.</a:t>
            </a:r>
          </a:p>
          <a:p>
            <a:pPr lvl="1">
              <a:buFont typeface="Wingdings" panose="05000000000000000000" pitchFamily="2" charset="2"/>
              <a:buChar char="Ø"/>
            </a:pPr>
            <a:r>
              <a:rPr lang="en-US" dirty="0"/>
              <a:t> Some regions show persistent underperformance.</a:t>
            </a:r>
          </a:p>
          <a:p>
            <a:pPr marL="0" indent="0">
              <a:buNone/>
            </a:pPr>
            <a:r>
              <a:rPr lang="en-US" dirty="0"/>
              <a:t>Business Implications:</a:t>
            </a:r>
          </a:p>
          <a:p>
            <a:pPr lvl="1">
              <a:buFont typeface="Wingdings" panose="05000000000000000000" pitchFamily="2" charset="2"/>
              <a:buChar char="Ø"/>
            </a:pPr>
            <a:r>
              <a:rPr lang="en-US" dirty="0"/>
              <a:t> Expansion and investment strategies may lack geographic precision.</a:t>
            </a:r>
          </a:p>
          <a:p>
            <a:pPr lvl="1">
              <a:buFont typeface="Wingdings" panose="05000000000000000000" pitchFamily="2" charset="2"/>
              <a:buChar char="Ø"/>
            </a:pPr>
            <a:r>
              <a:rPr lang="en-US" dirty="0"/>
              <a:t> Market penetration opportunities exist in underdeveloped regions.</a:t>
            </a:r>
          </a:p>
          <a:p>
            <a:pPr lvl="1">
              <a:buFont typeface="Wingdings" panose="05000000000000000000" pitchFamily="2" charset="2"/>
              <a:buChar char="Ø"/>
            </a:pPr>
            <a:r>
              <a:rPr lang="en-US" dirty="0"/>
              <a:t> Regional cost structures may not align with revenue generation.</a:t>
            </a:r>
          </a:p>
          <a:p>
            <a:pPr marL="0" indent="0">
              <a:buNone/>
            </a:pPr>
            <a:r>
              <a:rPr lang="en-US" dirty="0"/>
              <a:t>Recommended Strategic Actions:</a:t>
            </a:r>
          </a:p>
          <a:p>
            <a:pPr lvl="1">
              <a:buFont typeface="Wingdings" panose="05000000000000000000" pitchFamily="2" charset="2"/>
              <a:buChar char="Ø"/>
            </a:pPr>
            <a:r>
              <a:rPr lang="en-US" dirty="0"/>
              <a:t> </a:t>
            </a:r>
            <a:r>
              <a:rPr lang="en-US" dirty="0" err="1"/>
              <a:t>Prioritise</a:t>
            </a:r>
            <a:r>
              <a:rPr lang="en-US" dirty="0"/>
              <a:t> growth investments in high-performing regions.</a:t>
            </a:r>
          </a:p>
          <a:p>
            <a:pPr lvl="1">
              <a:buFont typeface="Wingdings" panose="05000000000000000000" pitchFamily="2" charset="2"/>
              <a:buChar char="Ø"/>
            </a:pPr>
            <a:r>
              <a:rPr lang="en-US" dirty="0"/>
              <a:t> </a:t>
            </a:r>
            <a:r>
              <a:rPr lang="en-GB" dirty="0"/>
              <a:t>Develop targeted strategies for underpenetrated markets.</a:t>
            </a:r>
          </a:p>
          <a:p>
            <a:pPr lvl="1">
              <a:buFont typeface="Wingdings" panose="05000000000000000000" pitchFamily="2" charset="2"/>
              <a:buChar char="Ø"/>
            </a:pPr>
            <a:r>
              <a:rPr lang="en-GB" dirty="0"/>
              <a:t> </a:t>
            </a:r>
            <a:r>
              <a:rPr lang="en-US" dirty="0" err="1"/>
              <a:t>Rationalise</a:t>
            </a:r>
            <a:r>
              <a:rPr lang="en-US" dirty="0"/>
              <a:t> footprint in structurally weak locations.</a:t>
            </a:r>
          </a:p>
          <a:p>
            <a:pPr marL="0" indent="0">
              <a:buNone/>
            </a:pPr>
            <a:endParaRPr lang="en-GB" dirty="0"/>
          </a:p>
        </p:txBody>
      </p:sp>
    </p:spTree>
    <p:extLst>
      <p:ext uri="{BB962C8B-B14F-4D97-AF65-F5344CB8AC3E}">
        <p14:creationId xmlns:p14="http://schemas.microsoft.com/office/powerpoint/2010/main" val="32319140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4B29C-53BA-F1C6-8600-74602D32B9E3}"/>
              </a:ext>
            </a:extLst>
          </p:cNvPr>
          <p:cNvSpPr>
            <a:spLocks noGrp="1"/>
          </p:cNvSpPr>
          <p:nvPr>
            <p:ph type="title"/>
          </p:nvPr>
        </p:nvSpPr>
        <p:spPr/>
        <p:txBody>
          <a:bodyPr/>
          <a:lstStyle/>
          <a:p>
            <a:r>
              <a:rPr lang="en-GB" noProof="0" dirty="0"/>
              <a:t>Brand Discount Responsiveness - significance</a:t>
            </a:r>
          </a:p>
        </p:txBody>
      </p:sp>
      <p:sp>
        <p:nvSpPr>
          <p:cNvPr id="3" name="Content Placeholder 2">
            <a:extLst>
              <a:ext uri="{FF2B5EF4-FFF2-40B4-BE49-F238E27FC236}">
                <a16:creationId xmlns:a16="http://schemas.microsoft.com/office/drawing/2014/main" id="{36001965-0E17-E3D9-1AC2-B86FC9D10872}"/>
              </a:ext>
            </a:extLst>
          </p:cNvPr>
          <p:cNvSpPr>
            <a:spLocks noGrp="1"/>
          </p:cNvSpPr>
          <p:nvPr>
            <p:ph idx="1"/>
          </p:nvPr>
        </p:nvSpPr>
        <p:spPr/>
        <p:txBody>
          <a:bodyPr/>
          <a:lstStyle/>
          <a:p>
            <a:pPr marL="0" indent="0" algn="just">
              <a:buNone/>
            </a:pPr>
            <a:r>
              <a:rPr lang="en-US" dirty="0"/>
              <a:t>Understanding which brands respond most effectively to discounting is critical for </a:t>
            </a:r>
            <a:r>
              <a:rPr lang="en-US" dirty="0" err="1"/>
              <a:t>optimising</a:t>
            </a:r>
            <a:r>
              <a:rPr lang="en-US" dirty="0"/>
              <a:t> promotional investment and supplier collaboration strategies. This analysis enables the business to distinguish between brands that generate true incremental demand and those that primarily experience margin erosion under discounting, rather than applying blanket promotional approaches. By aligning promotional mechanics and funding with brand-level responsiveness, the </a:t>
            </a:r>
            <a:r>
              <a:rPr lang="en-US" dirty="0" err="1"/>
              <a:t>organisation</a:t>
            </a:r>
            <a:r>
              <a:rPr lang="en-US" dirty="0"/>
              <a:t> can </a:t>
            </a:r>
            <a:r>
              <a:rPr lang="en-US" dirty="0" err="1"/>
              <a:t>maximise</a:t>
            </a:r>
            <a:r>
              <a:rPr lang="en-US" dirty="0"/>
              <a:t> promotional ROI, strengthen supplier negotiations, and drive sustainable revenue growth.</a:t>
            </a:r>
            <a:endParaRPr lang="en-GB" noProof="0" dirty="0"/>
          </a:p>
        </p:txBody>
      </p:sp>
    </p:spTree>
    <p:extLst>
      <p:ext uri="{BB962C8B-B14F-4D97-AF65-F5344CB8AC3E}">
        <p14:creationId xmlns:p14="http://schemas.microsoft.com/office/powerpoint/2010/main" val="41627859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689CE-3D71-98C7-6771-BA2AADB6AF61}"/>
              </a:ext>
            </a:extLst>
          </p:cNvPr>
          <p:cNvSpPr>
            <a:spLocks noGrp="1"/>
          </p:cNvSpPr>
          <p:nvPr>
            <p:ph type="title"/>
          </p:nvPr>
        </p:nvSpPr>
        <p:spPr/>
        <p:txBody>
          <a:bodyPr/>
          <a:lstStyle/>
          <a:p>
            <a:r>
              <a:rPr lang="en-GB" dirty="0"/>
              <a:t>Brand Discount Responsiveness – output analysis interpretation</a:t>
            </a:r>
          </a:p>
        </p:txBody>
      </p:sp>
      <p:sp>
        <p:nvSpPr>
          <p:cNvPr id="3" name="Content Placeholder 2">
            <a:extLst>
              <a:ext uri="{FF2B5EF4-FFF2-40B4-BE49-F238E27FC236}">
                <a16:creationId xmlns:a16="http://schemas.microsoft.com/office/drawing/2014/main" id="{41B1DD84-DA94-8DD4-0B55-19F8C257881E}"/>
              </a:ext>
            </a:extLst>
          </p:cNvPr>
          <p:cNvSpPr>
            <a:spLocks noGrp="1"/>
          </p:cNvSpPr>
          <p:nvPr>
            <p:ph idx="1"/>
          </p:nvPr>
        </p:nvSpPr>
        <p:spPr>
          <a:xfrm>
            <a:off x="1024128" y="2084832"/>
            <a:ext cx="9720073" cy="4224528"/>
          </a:xfrm>
        </p:spPr>
        <p:txBody>
          <a:bodyPr>
            <a:normAutofit fontScale="77500" lnSpcReduction="20000"/>
          </a:bodyPr>
          <a:lstStyle/>
          <a:p>
            <a:pPr marL="0" indent="0">
              <a:buNone/>
            </a:pPr>
            <a:r>
              <a:rPr lang="en-US" dirty="0"/>
              <a:t>Key Metrics:</a:t>
            </a:r>
          </a:p>
          <a:p>
            <a:pPr lvl="1">
              <a:buFont typeface="Wingdings" panose="05000000000000000000" pitchFamily="2" charset="2"/>
              <a:buChar char="Ø"/>
            </a:pPr>
            <a:r>
              <a:rPr lang="en-US" dirty="0"/>
              <a:t> </a:t>
            </a:r>
            <a:r>
              <a:rPr lang="en-GB" dirty="0"/>
              <a:t>Revenue from Discounted Sales</a:t>
            </a:r>
          </a:p>
          <a:p>
            <a:pPr lvl="1">
              <a:buFont typeface="Wingdings" panose="05000000000000000000" pitchFamily="2" charset="2"/>
              <a:buChar char="Ø"/>
            </a:pPr>
            <a:r>
              <a:rPr lang="en-GB" dirty="0"/>
              <a:t> Units Sold under Discount</a:t>
            </a:r>
          </a:p>
          <a:p>
            <a:pPr lvl="1">
              <a:buFont typeface="Wingdings" panose="05000000000000000000" pitchFamily="2" charset="2"/>
              <a:buChar char="Ø"/>
            </a:pPr>
            <a:r>
              <a:rPr lang="en-GB" dirty="0"/>
              <a:t> Revenue Retention %</a:t>
            </a:r>
            <a:endParaRPr lang="en-US" dirty="0"/>
          </a:p>
          <a:p>
            <a:pPr marL="0" indent="0">
              <a:buNone/>
            </a:pPr>
            <a:r>
              <a:rPr lang="en-US" dirty="0"/>
              <a:t>Key Insights:</a:t>
            </a:r>
          </a:p>
          <a:p>
            <a:pPr lvl="1">
              <a:buFont typeface="Wingdings" panose="05000000000000000000" pitchFamily="2" charset="2"/>
              <a:buChar char="Ø"/>
            </a:pPr>
            <a:r>
              <a:rPr lang="en-US" dirty="0"/>
              <a:t> Brands respond very differently to discounting strategies.</a:t>
            </a:r>
          </a:p>
          <a:p>
            <a:pPr lvl="1">
              <a:buFont typeface="Wingdings" panose="05000000000000000000" pitchFamily="2" charset="2"/>
              <a:buChar char="Ø"/>
            </a:pPr>
            <a:r>
              <a:rPr lang="en-US" dirty="0"/>
              <a:t> Some brands show strong volume lift with limited margin erosion.</a:t>
            </a:r>
          </a:p>
          <a:p>
            <a:pPr lvl="1">
              <a:buFont typeface="Wingdings" panose="05000000000000000000" pitchFamily="2" charset="2"/>
              <a:buChar char="Ø"/>
            </a:pPr>
            <a:r>
              <a:rPr lang="en-US" dirty="0"/>
              <a:t> Others suffer revenue dilution with minimal sales uplift.</a:t>
            </a:r>
          </a:p>
          <a:p>
            <a:pPr marL="0" indent="0">
              <a:buNone/>
            </a:pPr>
            <a:r>
              <a:rPr lang="en-US" dirty="0"/>
              <a:t>Business Implications:</a:t>
            </a:r>
          </a:p>
          <a:p>
            <a:pPr lvl="1">
              <a:buFont typeface="Wingdings" panose="05000000000000000000" pitchFamily="2" charset="2"/>
              <a:buChar char="Ø"/>
            </a:pPr>
            <a:r>
              <a:rPr lang="en-US" dirty="0"/>
              <a:t> Uniform discount strategies are inefficient and margin destructive.</a:t>
            </a:r>
          </a:p>
          <a:p>
            <a:pPr lvl="1">
              <a:buFont typeface="Wingdings" panose="05000000000000000000" pitchFamily="2" charset="2"/>
              <a:buChar char="Ø"/>
            </a:pPr>
            <a:r>
              <a:rPr lang="en-US" dirty="0"/>
              <a:t> Brand-level promotional tailoring can unlock significant profit gains.</a:t>
            </a:r>
          </a:p>
          <a:p>
            <a:pPr lvl="1">
              <a:buFont typeface="Wingdings" panose="05000000000000000000" pitchFamily="2" charset="2"/>
              <a:buChar char="Ø"/>
            </a:pPr>
            <a:r>
              <a:rPr lang="en-US" dirty="0"/>
              <a:t> Supplier funding strategies can be </a:t>
            </a:r>
            <a:r>
              <a:rPr lang="en-US" dirty="0" err="1"/>
              <a:t>optimised</a:t>
            </a:r>
            <a:r>
              <a:rPr lang="en-US" dirty="0"/>
              <a:t>.</a:t>
            </a:r>
          </a:p>
          <a:p>
            <a:pPr marL="0" indent="0">
              <a:buNone/>
            </a:pPr>
            <a:r>
              <a:rPr lang="en-US" dirty="0"/>
              <a:t>Recommended Strategic Actions:</a:t>
            </a:r>
          </a:p>
          <a:p>
            <a:pPr lvl="1">
              <a:buFont typeface="Wingdings" panose="05000000000000000000" pitchFamily="2" charset="2"/>
              <a:buChar char="Ø"/>
            </a:pPr>
            <a:r>
              <a:rPr lang="en-US" dirty="0"/>
              <a:t> </a:t>
            </a:r>
            <a:r>
              <a:rPr lang="en-GB" dirty="0"/>
              <a:t>Implement brand-specific discount strategies.</a:t>
            </a:r>
          </a:p>
          <a:p>
            <a:pPr lvl="1">
              <a:buFont typeface="Wingdings" panose="05000000000000000000" pitchFamily="2" charset="2"/>
              <a:buChar char="Ø"/>
            </a:pPr>
            <a:r>
              <a:rPr lang="en-GB" dirty="0"/>
              <a:t> </a:t>
            </a:r>
            <a:r>
              <a:rPr lang="en-US" dirty="0" err="1"/>
              <a:t>Prioritise</a:t>
            </a:r>
            <a:r>
              <a:rPr lang="en-US" dirty="0"/>
              <a:t> promotional activity on brands with high elasticity.</a:t>
            </a:r>
          </a:p>
          <a:p>
            <a:pPr lvl="1">
              <a:buFont typeface="Wingdings" panose="05000000000000000000" pitchFamily="2" charset="2"/>
              <a:buChar char="Ø"/>
            </a:pPr>
            <a:r>
              <a:rPr lang="en-GB" dirty="0"/>
              <a:t> Negotiate supplier co-funded promotions.</a:t>
            </a:r>
          </a:p>
        </p:txBody>
      </p:sp>
    </p:spTree>
    <p:extLst>
      <p:ext uri="{BB962C8B-B14F-4D97-AF65-F5344CB8AC3E}">
        <p14:creationId xmlns:p14="http://schemas.microsoft.com/office/powerpoint/2010/main" val="24521186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0CFC9-8075-6A43-7E5E-1B89807A81DF}"/>
              </a:ext>
            </a:extLst>
          </p:cNvPr>
          <p:cNvSpPr>
            <a:spLocks noGrp="1"/>
          </p:cNvSpPr>
          <p:nvPr>
            <p:ph type="title"/>
          </p:nvPr>
        </p:nvSpPr>
        <p:spPr/>
        <p:txBody>
          <a:bodyPr/>
          <a:lstStyle/>
          <a:p>
            <a:r>
              <a:rPr lang="en-US" dirty="0"/>
              <a:t>Conclusion</a:t>
            </a:r>
            <a:endParaRPr lang="en-GB" dirty="0"/>
          </a:p>
        </p:txBody>
      </p:sp>
      <p:sp>
        <p:nvSpPr>
          <p:cNvPr id="3" name="Content Placeholder 2">
            <a:extLst>
              <a:ext uri="{FF2B5EF4-FFF2-40B4-BE49-F238E27FC236}">
                <a16:creationId xmlns:a16="http://schemas.microsoft.com/office/drawing/2014/main" id="{5ADBFF91-D115-4645-870C-5A19074751A9}"/>
              </a:ext>
            </a:extLst>
          </p:cNvPr>
          <p:cNvSpPr>
            <a:spLocks noGrp="1"/>
          </p:cNvSpPr>
          <p:nvPr>
            <p:ph idx="1"/>
          </p:nvPr>
        </p:nvSpPr>
        <p:spPr/>
        <p:txBody>
          <a:bodyPr/>
          <a:lstStyle/>
          <a:p>
            <a:pPr marL="0" indent="0" algn="just">
              <a:buNone/>
            </a:pPr>
            <a:r>
              <a:rPr lang="en-US" dirty="0"/>
              <a:t>This analysis demonstrates how structured, KPI-driven reporting can deliver meaningful strategic insight across every dimension of retail performance, from product and pricing </a:t>
            </a:r>
            <a:r>
              <a:rPr lang="en-US" dirty="0" err="1"/>
              <a:t>optimisation</a:t>
            </a:r>
            <a:r>
              <a:rPr lang="en-US" dirty="0"/>
              <a:t> to workforce effectiveness and geographic expansion. The findings highlight clear opportunities to improve revenue growth, operational efficiency, and margin performance through targeted actions in inventory planning, promotional strategy, customer engagement, leadership development, and regional investment. By embedding these insights into ongoing management processes and performance monitoring, the business can transition from reactive reporting to proactive, data-led decision-making. Ultimately, this approach establishes a scalable analytical foundation that enables sustainable growth, improved profitability, and a stronger competitive position in an increasingly data-driven retail environment.</a:t>
            </a:r>
            <a:endParaRPr lang="en-GB" dirty="0"/>
          </a:p>
        </p:txBody>
      </p:sp>
    </p:spTree>
    <p:extLst>
      <p:ext uri="{BB962C8B-B14F-4D97-AF65-F5344CB8AC3E}">
        <p14:creationId xmlns:p14="http://schemas.microsoft.com/office/powerpoint/2010/main" val="305179446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rgbClr val="2E2B21"/>
      </a:dk1>
      <a:lt1>
        <a:srgbClr val="FFFFFF"/>
      </a:lt1>
      <a:dk2>
        <a:srgbClr val="605B4F"/>
      </a:dk2>
      <a:lt2>
        <a:srgbClr val="D8D6BE"/>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4825F1AF-8DBC-4E3D-9F3D-688338DA83FC}"/>
    </a:ext>
  </a:extLst>
</a:theme>
</file>

<file path=docProps/app.xml><?xml version="1.0" encoding="utf-8"?>
<Properties xmlns="http://schemas.openxmlformats.org/officeDocument/2006/extended-properties" xmlns:vt="http://schemas.openxmlformats.org/officeDocument/2006/docPropsVTypes">
  <Template>Integral</Template>
  <TotalTime>0</TotalTime>
  <Words>2721</Words>
  <Application>Microsoft Office PowerPoint</Application>
  <PresentationFormat>Widescreen</PresentationFormat>
  <Paragraphs>251</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Tw Cen MT</vt:lpstr>
      <vt:lpstr>Tw Cen MT Condensed</vt:lpstr>
      <vt:lpstr>Wingdings</vt:lpstr>
      <vt:lpstr>Wingdings 3</vt:lpstr>
      <vt:lpstr>Integral</vt:lpstr>
      <vt:lpstr>Stakeholder Data Storytelling Report</vt:lpstr>
      <vt:lpstr>Contents (1)</vt:lpstr>
      <vt:lpstr>CONTENTS (2)</vt:lpstr>
      <vt:lpstr>Contents (3)</vt:lpstr>
      <vt:lpstr>introduction</vt:lpstr>
      <vt:lpstr>Analytical Focus &amp; Key Business Questions (1)</vt:lpstr>
      <vt:lpstr>Analytical Focus &amp; Key Business Questions (2)</vt:lpstr>
      <vt:lpstr>Product &amp; Category Performance - Significance</vt:lpstr>
      <vt:lpstr>Product &amp; Category Performance – output analysis interpretation </vt:lpstr>
      <vt:lpstr>Sales Trends &amp; Growth - Relevance</vt:lpstr>
      <vt:lpstr>Sales Trends &amp; Growth – output analysis interpretation</vt:lpstr>
      <vt:lpstr>Retail &amp; Regional Performance - Importance</vt:lpstr>
      <vt:lpstr>Retail &amp; Regional Performance – output analysis interpretation</vt:lpstr>
      <vt:lpstr>Customer Value &amp; Loyalty - significance</vt:lpstr>
      <vt:lpstr>Customer Value &amp; Loyalty – output analysis interpretation</vt:lpstr>
      <vt:lpstr>Staff Productivity &amp; Store Operations - relevance</vt:lpstr>
      <vt:lpstr>Staff Productivity &amp; Store Operations – output analysis interpretation</vt:lpstr>
      <vt:lpstr>Brand Portfolio Performance - importance</vt:lpstr>
      <vt:lpstr>Brand Portfolio Performance – output analysis interpretation</vt:lpstr>
      <vt:lpstr>Pricing &amp; Discount Strategy - significance</vt:lpstr>
      <vt:lpstr>Pricing &amp; Discount Strategy – output analysis interpretation</vt:lpstr>
      <vt:lpstr>Leadership &amp; Management Effectiveness - relevance</vt:lpstr>
      <vt:lpstr>Leadership &amp; Management Effectiveness – output analysis interpretation</vt:lpstr>
      <vt:lpstr>Geographic Growth &amp; Market Expansion - importance</vt:lpstr>
      <vt:lpstr>Geographic Growth &amp; Market Expansion – output analysis interpretation</vt:lpstr>
      <vt:lpstr>Brand Discount Responsiveness - significance</vt:lpstr>
      <vt:lpstr>Brand Discount Responsiveness – output analysis interpretation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Hristo Petkov</dc:creator>
  <cp:lastModifiedBy>Hristo Petkov</cp:lastModifiedBy>
  <cp:revision>109</cp:revision>
  <dcterms:created xsi:type="dcterms:W3CDTF">2026-02-10T12:00:40Z</dcterms:created>
  <dcterms:modified xsi:type="dcterms:W3CDTF">2026-02-10T15:06:31Z</dcterms:modified>
</cp:coreProperties>
</file>